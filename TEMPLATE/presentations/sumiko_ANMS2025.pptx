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65" r:id="rId14"/>
    <p:sldId id="266" r:id="rId15"/>
    <p:sldId id="269" r:id="rId16"/>
    <p:sldId id="271" r:id="rId17"/>
    <p:sldId id="272" r:id="rId18"/>
    <p:sldId id="273" r:id="rId19"/>
    <p:sldId id="274" r:id="rId20"/>
  </p:sldIdLst>
  <p:sldSz cx="12192000" cy="6858000"/>
  <p:notesSz cx="6797675" cy="9926638"/>
  <p:embeddedFontLst>
    <p:embeddedFont>
      <p:font typeface="Noto Sans JP" panose="020B0200000000000000" pitchFamily="34" charset="-128"/>
      <p:regular r:id="rId22"/>
      <p:bold r:id="rId23"/>
    </p:embeddedFont>
    <p:embeddedFont>
      <p:font typeface="Cambria Math" panose="02040503050406030204" pitchFamily="18" charset="0"/>
      <p:regular r:id="rId24"/>
    </p:embeddedFont>
    <p:embeddedFont>
      <p:font typeface="Helvetica Neue" panose="02000503000000020004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/oFtiQiB46N1KKXoGnD727vFw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4AE706-3FB9-49F4-9637-426626816EC9}">
  <a:tblStyle styleId="{854AE706-3FB9-49F4-9637-426626816EC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EBEB"/>
          </a:solidFill>
        </a:fill>
      </a:tcStyle>
    </a:wholeTbl>
    <a:band1H>
      <a:tcTxStyle b="off" i="off"/>
      <a:tcStyle>
        <a:tcBdr/>
        <a:fill>
          <a:solidFill>
            <a:srgbClr val="F6D6D6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6D6D6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F421EC7-573D-4E2D-8FBC-FDDCFB5D0FBF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0935"/>
  </p:normalViewPr>
  <p:slideViewPr>
    <p:cSldViewPr snapToGrid="0">
      <p:cViewPr varScale="1">
        <p:scale>
          <a:sx n="111" d="100"/>
          <a:sy n="111" d="100"/>
        </p:scale>
        <p:origin x="8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46" name="Google Shape;146;p5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b="1"/>
              <a:t>Why This Matters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Enables </a:t>
            </a:r>
            <a:r>
              <a:rPr lang="en-US" b="1"/>
              <a:t>priority-aware scheduling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Avoids </a:t>
            </a:r>
            <a:r>
              <a:rPr lang="en-US" b="1"/>
              <a:t>complex switching</a:t>
            </a:r>
            <a:r>
              <a:rPr lang="en-US"/>
              <a:t> or queuing overhead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Foundation for </a:t>
            </a:r>
            <a:r>
              <a:rPr lang="en-US" b="1"/>
              <a:t>analytical modeling via queueing theory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8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➤ Next: Priority control mechanisms under this mode</a:t>
            </a:r>
            <a:endParaRPr/>
          </a:p>
        </p:txBody>
      </p:sp>
      <p:sp>
        <p:nvSpPr>
          <p:cNvPr id="257" name="Google Shape;257;p10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7" name="Google Shape;267;p12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0" name="Google Shape;220;p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7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49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49:notes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66" name="Google Shape;36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9" name="Google Shape;40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-タイトルスライド">
  <p:cSld name="A-タイトルスライド">
    <p:bg>
      <p:bgPr>
        <a:solidFill>
          <a:srgbClr val="FFFFF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5567" y="4828159"/>
            <a:ext cx="2832000" cy="57513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1116022" y="1232379"/>
            <a:ext cx="104888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1115055" y="2710502"/>
            <a:ext cx="10482334" cy="68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body" idx="2"/>
          </p:nvPr>
        </p:nvSpPr>
        <p:spPr>
          <a:xfrm>
            <a:off x="1122564" y="3494556"/>
            <a:ext cx="9077350" cy="68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body" idx="3"/>
          </p:nvPr>
        </p:nvSpPr>
        <p:spPr>
          <a:xfrm>
            <a:off x="6183087" y="6463214"/>
            <a:ext cx="5761568" cy="31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1-1">
  <p:cSld name="コンテンツ1-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>
            <a:off x="12084000" y="0"/>
            <a:ext cx="108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43156" y="884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6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-タイトルスライド">
  <p:cSld name="B-タイトルスライド">
    <p:bg>
      <p:bgPr>
        <a:solidFill>
          <a:srgbClr val="FFFFFF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263" y="5839891"/>
            <a:ext cx="2400000" cy="4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8"/>
          <p:cNvSpPr txBox="1">
            <a:spLocks noGrp="1"/>
          </p:cNvSpPr>
          <p:nvPr>
            <p:ph type="title"/>
          </p:nvPr>
        </p:nvSpPr>
        <p:spPr>
          <a:xfrm>
            <a:off x="480401" y="2293206"/>
            <a:ext cx="95353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3177"/>
              </a:buClr>
              <a:buSzPts val="4000"/>
              <a:buFont typeface="Calibri"/>
              <a:buNone/>
              <a:defRPr sz="4000" b="1" i="0" u="none" strike="noStrike" cap="none">
                <a:solidFill>
                  <a:srgbClr val="1C31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body" idx="1"/>
          </p:nvPr>
        </p:nvSpPr>
        <p:spPr>
          <a:xfrm>
            <a:off x="480399" y="3924163"/>
            <a:ext cx="8032228" cy="731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3177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1C31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2"/>
          </p:nvPr>
        </p:nvSpPr>
        <p:spPr>
          <a:xfrm>
            <a:off x="480402" y="4701635"/>
            <a:ext cx="6181656" cy="731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3"/>
          </p:nvPr>
        </p:nvSpPr>
        <p:spPr>
          <a:xfrm>
            <a:off x="6193977" y="6133056"/>
            <a:ext cx="5761568" cy="597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-中表紙スライド1">
  <p:cSld name="B-中表紙スライド1">
    <p:bg>
      <p:bgPr>
        <a:solidFill>
          <a:srgbClr val="FFFFFF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454294" y="1196975"/>
            <a:ext cx="1092708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_中表紙スライド2">
  <p:cSld name="B_中表紙スライド2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0" descr="図形, 背景パターン, 矢印&#10;&#10;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0"/>
          <p:cNvSpPr txBox="1">
            <a:spLocks noGrp="1"/>
          </p:cNvSpPr>
          <p:nvPr>
            <p:ph type="title"/>
          </p:nvPr>
        </p:nvSpPr>
        <p:spPr>
          <a:xfrm>
            <a:off x="454296" y="1196975"/>
            <a:ext cx="1092708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-タイトルスライド">
  <p:cSld name="C-タイトルスライド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1"/>
          <p:cNvPicPr preferRelativeResize="0"/>
          <p:nvPr/>
        </p:nvPicPr>
        <p:blipFill rotWithShape="1">
          <a:blip r:embed="rId2">
            <a:alphaModFix/>
          </a:blip>
          <a:srcRect r="2321"/>
          <a:stretch/>
        </p:blipFill>
        <p:spPr>
          <a:xfrm>
            <a:off x="283036" y="0"/>
            <a:ext cx="1190896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263" y="5491831"/>
            <a:ext cx="2400000" cy="4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1"/>
          <p:cNvSpPr txBox="1">
            <a:spLocks noGrp="1"/>
          </p:cNvSpPr>
          <p:nvPr>
            <p:ph type="body" idx="1"/>
          </p:nvPr>
        </p:nvSpPr>
        <p:spPr>
          <a:xfrm>
            <a:off x="487531" y="2022017"/>
            <a:ext cx="7317526" cy="65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3177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1C31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title"/>
          </p:nvPr>
        </p:nvSpPr>
        <p:spPr>
          <a:xfrm>
            <a:off x="468133" y="265791"/>
            <a:ext cx="8337200" cy="1396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body" idx="2"/>
          </p:nvPr>
        </p:nvSpPr>
        <p:spPr>
          <a:xfrm>
            <a:off x="487531" y="2871021"/>
            <a:ext cx="4816307" cy="93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body" idx="3"/>
          </p:nvPr>
        </p:nvSpPr>
        <p:spPr>
          <a:xfrm>
            <a:off x="8805333" y="261448"/>
            <a:ext cx="2910716" cy="617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-中表紙スライド1">
  <p:cSld name="C-中表紙スライド1"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32"/>
          <p:cNvPicPr preferRelativeResize="0"/>
          <p:nvPr/>
        </p:nvPicPr>
        <p:blipFill rotWithShape="1">
          <a:blip r:embed="rId2">
            <a:alphaModFix/>
          </a:blip>
          <a:srcRect r="4795"/>
          <a:stretch/>
        </p:blipFill>
        <p:spPr>
          <a:xfrm>
            <a:off x="584610" y="0"/>
            <a:ext cx="1160739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2"/>
          <p:cNvSpPr txBox="1">
            <a:spLocks noGrp="1"/>
          </p:cNvSpPr>
          <p:nvPr>
            <p:ph type="title"/>
          </p:nvPr>
        </p:nvSpPr>
        <p:spPr>
          <a:xfrm>
            <a:off x="486952" y="4404047"/>
            <a:ext cx="5609048" cy="157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-中表紙スライド2">
  <p:cSld name="C-中表紙スライド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33" descr="背景パターン&#10;&#10;自動的に生成された説明"/>
          <p:cNvPicPr preferRelativeResize="0"/>
          <p:nvPr/>
        </p:nvPicPr>
        <p:blipFill rotWithShape="1">
          <a:blip r:embed="rId2">
            <a:alphaModFix/>
          </a:blip>
          <a:srcRect r="4795"/>
          <a:stretch/>
        </p:blipFill>
        <p:spPr>
          <a:xfrm>
            <a:off x="584613" y="0"/>
            <a:ext cx="116073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3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33"/>
          <p:cNvSpPr txBox="1">
            <a:spLocks noGrp="1"/>
          </p:cNvSpPr>
          <p:nvPr>
            <p:ph type="title"/>
          </p:nvPr>
        </p:nvSpPr>
        <p:spPr>
          <a:xfrm>
            <a:off x="486952" y="4404050"/>
            <a:ext cx="5609048" cy="1577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-タイトルスライド">
  <p:cSld name="D-タイトルスライド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038" y="836369"/>
            <a:ext cx="2400000" cy="48740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4"/>
          <p:cNvSpPr txBox="1">
            <a:spLocks noGrp="1"/>
          </p:cNvSpPr>
          <p:nvPr>
            <p:ph type="title"/>
          </p:nvPr>
        </p:nvSpPr>
        <p:spPr>
          <a:xfrm>
            <a:off x="483118" y="3682279"/>
            <a:ext cx="1048887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3177"/>
              </a:buClr>
              <a:buSzPts val="4000"/>
              <a:buFont typeface="Calibri"/>
              <a:buNone/>
              <a:defRPr sz="4000" b="1" i="0" u="none" strike="noStrike" cap="none">
                <a:solidFill>
                  <a:srgbClr val="1C31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body" idx="1"/>
          </p:nvPr>
        </p:nvSpPr>
        <p:spPr>
          <a:xfrm>
            <a:off x="482151" y="5218706"/>
            <a:ext cx="8487678" cy="68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C3177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1C317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body" idx="2"/>
          </p:nvPr>
        </p:nvSpPr>
        <p:spPr>
          <a:xfrm>
            <a:off x="482151" y="5998028"/>
            <a:ext cx="8487678" cy="56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body" idx="3"/>
          </p:nvPr>
        </p:nvSpPr>
        <p:spPr>
          <a:xfrm>
            <a:off x="7434942" y="1475590"/>
            <a:ext cx="4509711" cy="35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457200" marR="0" lvl="0" indent="-2286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-中表紙スライド1">
  <p:cSld name="D-中表紙スライド1"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5"/>
          <p:cNvSpPr txBox="1">
            <a:spLocks noGrp="1"/>
          </p:cNvSpPr>
          <p:nvPr>
            <p:ph type="title"/>
          </p:nvPr>
        </p:nvSpPr>
        <p:spPr>
          <a:xfrm>
            <a:off x="574040" y="2623199"/>
            <a:ext cx="1092708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-中表紙スライド2">
  <p:cSld name="D-中表紙スライド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6" descr="図形, 背景パターン&#10;&#10;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6"/>
          <p:cNvSpPr txBox="1">
            <a:spLocks noGrp="1"/>
          </p:cNvSpPr>
          <p:nvPr>
            <p:ph type="title"/>
          </p:nvPr>
        </p:nvSpPr>
        <p:spPr>
          <a:xfrm>
            <a:off x="574040" y="2623199"/>
            <a:ext cx="1092708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1-2">
  <p:cSld name="コンテンツ1-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/>
          <p:nvPr/>
        </p:nvSpPr>
        <p:spPr>
          <a:xfrm>
            <a:off x="12084000" y="0"/>
            <a:ext cx="108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97038" y="217858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7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47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1-3">
  <p:cSld name="コンテンツ1-3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/>
          <p:nvPr/>
        </p:nvSpPr>
        <p:spPr>
          <a:xfrm>
            <a:off x="12084000" y="0"/>
            <a:ext cx="108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8"/>
          <p:cNvSpPr txBox="1">
            <a:spLocks noGrp="1"/>
          </p:cNvSpPr>
          <p:nvPr>
            <p:ph type="title"/>
          </p:nvPr>
        </p:nvSpPr>
        <p:spPr>
          <a:xfrm>
            <a:off x="188843" y="272360"/>
            <a:ext cx="10075611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4" name="Google Shape;84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1416" y="217858"/>
            <a:ext cx="1365622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8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150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1-4">
  <p:cSld name="コンテンツ1-4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9"/>
          <p:cNvSpPr/>
          <p:nvPr/>
        </p:nvSpPr>
        <p:spPr>
          <a:xfrm>
            <a:off x="12084000" y="0"/>
            <a:ext cx="108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9"/>
          <p:cNvSpPr txBox="1">
            <a:spLocks noGrp="1"/>
          </p:cNvSpPr>
          <p:nvPr>
            <p:ph type="title"/>
          </p:nvPr>
        </p:nvSpPr>
        <p:spPr>
          <a:xfrm>
            <a:off x="188843" y="272360"/>
            <a:ext cx="10075611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90" name="Google Shape;90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91416" y="217858"/>
            <a:ext cx="1365622" cy="6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47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2-1">
  <p:cSld name="コンテンツ2-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0"/>
          <p:cNvSpPr txBox="1">
            <a:spLocks noGrp="1"/>
          </p:cNvSpPr>
          <p:nvPr>
            <p:ph type="title"/>
          </p:nvPr>
        </p:nvSpPr>
        <p:spPr>
          <a:xfrm>
            <a:off x="188844" y="305018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0"/>
          <p:cNvSpPr/>
          <p:nvPr/>
        </p:nvSpPr>
        <p:spPr>
          <a:xfrm>
            <a:off x="1" y="-2421"/>
            <a:ext cx="12192000" cy="877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44955" y="344645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0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150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2-2">
  <p:cSld name="コンテンツ2-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/>
          <p:nvPr/>
        </p:nvSpPr>
        <p:spPr>
          <a:xfrm>
            <a:off x="1" y="-2421"/>
            <a:ext cx="12192000" cy="877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44955" y="344645"/>
            <a:ext cx="2160000" cy="43866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188844" y="305018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47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2-3">
  <p:cSld name="コンテンツ2-3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2"/>
          <p:cNvSpPr txBox="1">
            <a:spLocks noGrp="1"/>
          </p:cNvSpPr>
          <p:nvPr>
            <p:ph type="title"/>
          </p:nvPr>
        </p:nvSpPr>
        <p:spPr>
          <a:xfrm>
            <a:off x="188843" y="305018"/>
            <a:ext cx="10075611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7" name="Google Shape;107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63518" y="250516"/>
            <a:ext cx="1193520" cy="566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2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42"/>
          <p:cNvSpPr/>
          <p:nvPr/>
        </p:nvSpPr>
        <p:spPr>
          <a:xfrm>
            <a:off x="1" y="-2421"/>
            <a:ext cx="12192000" cy="877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2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150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2-4">
  <p:cSld name="コンテンツ2-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3"/>
          <p:cNvSpPr txBox="1">
            <a:spLocks noGrp="1"/>
          </p:cNvSpPr>
          <p:nvPr>
            <p:ph type="title"/>
          </p:nvPr>
        </p:nvSpPr>
        <p:spPr>
          <a:xfrm>
            <a:off x="188843" y="305018"/>
            <a:ext cx="10075611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3" name="Google Shape;11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668398" y="250516"/>
            <a:ext cx="1188639" cy="5640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43"/>
          <p:cNvSpPr/>
          <p:nvPr/>
        </p:nvSpPr>
        <p:spPr>
          <a:xfrm>
            <a:off x="1" y="-2421"/>
            <a:ext cx="12192000" cy="8775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47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>
  <p:cSld name="白紙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4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65">
          <p15:clr>
            <a:srgbClr val="F26B43"/>
          </p15:clr>
        </p15:guide>
        <p15:guide id="4" pos="7015">
          <p15:clr>
            <a:srgbClr val="F26B43"/>
          </p15:clr>
        </p15:guide>
        <p15:guide id="5" orient="horz" pos="3680">
          <p15:clr>
            <a:srgbClr val="F26B43"/>
          </p15:clr>
        </p15:guide>
        <p15:guide id="6" pos="7469">
          <p15:clr>
            <a:srgbClr val="F26B43"/>
          </p15:clr>
        </p15:guide>
        <p15:guide id="7" pos="181">
          <p15:clr>
            <a:srgbClr val="F26B43"/>
          </p15:clr>
        </p15:guide>
        <p15:guide id="8" orient="horz" pos="195">
          <p15:clr>
            <a:srgbClr val="F26B43"/>
          </p15:clr>
        </p15:guide>
        <p15:guide id="9" orient="horz" pos="4125">
          <p15:clr>
            <a:srgbClr val="F26B43"/>
          </p15:clr>
        </p15:guide>
        <p15:guide id="10" pos="363">
          <p15:clr>
            <a:srgbClr val="F26B43"/>
          </p15:clr>
        </p15:guide>
        <p15:guide id="11" pos="7317">
          <p15:clr>
            <a:srgbClr val="F26B43"/>
          </p15:clr>
        </p15:guide>
        <p15:guide id="12" orient="horz" pos="640">
          <p15:clr>
            <a:srgbClr val="F26B43"/>
          </p15:clr>
        </p15:guide>
        <p15:guide id="13" orient="horz" pos="754">
          <p15:clr>
            <a:srgbClr val="F26B43"/>
          </p15:clr>
        </p15:guide>
        <p15:guide id="14" orient="horz" pos="2659">
          <p15:clr>
            <a:srgbClr val="F26B43"/>
          </p15:clr>
        </p15:guide>
        <p15:guide id="15" orient="horz" pos="3566">
          <p15:clr>
            <a:srgbClr val="F26B43"/>
          </p15:clr>
        </p15:guide>
        <p15:guide id="16" orient="horz" pos="1661">
          <p15:clr>
            <a:srgbClr val="F26B43"/>
          </p15:clr>
        </p15:guide>
        <p15:guide id="17" pos="3341">
          <p15:clr>
            <a:srgbClr val="F26B43"/>
          </p15:clr>
        </p15:guide>
        <p15:guide id="18" pos="43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40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>
            <a:spLocks noGrp="1"/>
          </p:cNvSpPr>
          <p:nvPr>
            <p:ph type="title"/>
          </p:nvPr>
        </p:nvSpPr>
        <p:spPr>
          <a:xfrm>
            <a:off x="726277" y="1212690"/>
            <a:ext cx="1170056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On the Effectiveness of Task Off-loading in Edge based Federated Learning Environment</a:t>
            </a:r>
            <a:br>
              <a:rPr lang="en-US"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</p:txBody>
      </p:sp>
      <p:sp>
        <p:nvSpPr>
          <p:cNvPr id="124" name="Google Shape;124;p1"/>
          <p:cNvSpPr txBox="1">
            <a:spLocks noGrp="1"/>
          </p:cNvSpPr>
          <p:nvPr>
            <p:ph type="body" idx="2"/>
          </p:nvPr>
        </p:nvSpPr>
        <p:spPr>
          <a:xfrm>
            <a:off x="6863798" y="3243084"/>
            <a:ext cx="9077350" cy="68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Sumiko Miyata, Institute of Science Tokyo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Takamichi Miyata, Chiba Institute of Technology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Irfanullah Khan, The University of Glasgow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Paul Harvey, The University of Glasgow</a:t>
            </a:r>
            <a:endParaRPr/>
          </a:p>
        </p:txBody>
      </p:sp>
      <p:sp>
        <p:nvSpPr>
          <p:cNvPr id="125" name="Google Shape;125;p1"/>
          <p:cNvSpPr txBox="1">
            <a:spLocks noGrp="1"/>
          </p:cNvSpPr>
          <p:nvPr>
            <p:ph type="body" idx="3"/>
          </p:nvPr>
        </p:nvSpPr>
        <p:spPr>
          <a:xfrm>
            <a:off x="6183087" y="6463214"/>
            <a:ext cx="5761568" cy="31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ANMS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Background &amp; Challenges</a:t>
            </a:r>
            <a:endParaRPr/>
          </a:p>
        </p:txBody>
      </p:sp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188845" y="947057"/>
            <a:ext cx="6580754" cy="610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Smart City Applications &amp; the Role of AI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/>
              <a:t>Traffic monitoring, AR, anomaly detection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/>
              <a:t>These applications increasingly rely on AI models that process data close to the source (e.g., IoT devices).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/>
              <a:t>Deploying and training such AI models in distributed environments poses significant challenges.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Why Federated Learning (FL)?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/>
              <a:t>FL enables </a:t>
            </a:r>
            <a:r>
              <a:rPr lang="en-US" b="1"/>
              <a:t>distributed</a:t>
            </a:r>
            <a:r>
              <a:rPr lang="en-US"/>
              <a:t>, </a:t>
            </a:r>
            <a:r>
              <a:rPr lang="en-US" b="1"/>
              <a:t>privacy-preserving</a:t>
            </a:r>
            <a:r>
              <a:rPr lang="en-US"/>
              <a:t> machine learning across many IoT devices.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/>
              <a:t>Particularly suited for collaborative AI in smart cities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Challenges in Practice</a:t>
            </a:r>
            <a:endParaRPr/>
          </a:p>
          <a:p>
            <a:pPr marL="914400" lvl="1" indent="-457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US" b="1"/>
              <a:t>High communication cost</a:t>
            </a:r>
            <a:r>
              <a:rPr lang="en-US"/>
              <a:t> due to frequent model weight exchange</a:t>
            </a:r>
            <a:endParaRPr/>
          </a:p>
          <a:p>
            <a:pPr marL="914400" lvl="1" indent="-457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US" b="1"/>
              <a:t>Long model update time</a:t>
            </a:r>
            <a:r>
              <a:rPr lang="en-US"/>
              <a:t>, especially for large-scale models</a:t>
            </a:r>
            <a:endParaRPr/>
          </a:p>
          <a:p>
            <a:pPr marL="914400" lvl="1" indent="-457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AutoNum type="arabicPeriod"/>
            </a:pPr>
            <a:r>
              <a:rPr lang="en-US" b="1"/>
              <a:t>Need to increase GPU-equipped edge servers</a:t>
            </a:r>
            <a:r>
              <a:rPr lang="en-US"/>
              <a:t>, but deployment is costly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Toward a More Efficient FL: Federated Prompt Learning (FPL)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/>
              <a:t>To reduce communication overhead, FPL has been proposed.</a:t>
            </a:r>
            <a:endParaRPr/>
          </a:p>
          <a:p>
            <a:pPr marL="457200" lvl="1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➤ FPL shares </a:t>
            </a:r>
            <a:r>
              <a:rPr lang="en-US" b="1"/>
              <a:t>prompts</a:t>
            </a:r>
            <a:r>
              <a:rPr lang="en-US"/>
              <a:t> instead of full model weights, drastically cutting communication cost.</a:t>
            </a:r>
            <a:endParaRPr/>
          </a:p>
          <a:p>
            <a:pPr marL="461010" lvl="0" indent="-22478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132" name="Google Shape;132;p2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6742" y="1092200"/>
            <a:ext cx="5336413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5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What is FPL?</a:t>
            </a:r>
            <a:endParaRPr/>
          </a:p>
        </p:txBody>
      </p:sp>
      <p:sp>
        <p:nvSpPr>
          <p:cNvPr id="139" name="Google Shape;139;p45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933582" cy="56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b="1"/>
              <a:t>FPL reduces overhead by sharing only prompts, not full models.</a:t>
            </a:r>
            <a:endParaRPr/>
          </a:p>
          <a:p>
            <a:pPr marL="10287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 i="1"/>
              <a:t>E.g., Edge servers send learned prompt like “a photo of a cat” rather than uploading entire CLIP weights.</a:t>
            </a:r>
            <a:endParaRPr/>
          </a:p>
        </p:txBody>
      </p:sp>
      <p:sp>
        <p:nvSpPr>
          <p:cNvPr id="140" name="Google Shape;140;p45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41" name="Google Shape;141;p45"/>
          <p:cNvSpPr txBox="1"/>
          <p:nvPr/>
        </p:nvSpPr>
        <p:spPr>
          <a:xfrm>
            <a:off x="447603" y="6321528"/>
            <a:ext cx="1129679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T. Guo, S. Guo, J. Wang, X. Tang, and W. Xu, “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PromptFL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Federated Participants Cooperatively Learn Prompts Instead of Models – Federated Learning in Age of Foundation Model,” 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IEEE Transactions on Mobile Computing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vol. 23, no. 5, pp. 5179–5194, 2024.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466" y="1846103"/>
            <a:ext cx="8271934" cy="448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2202" y="1345942"/>
            <a:ext cx="4955821" cy="507179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>
            <a:spLocks noGrp="1"/>
          </p:cNvSpPr>
          <p:nvPr>
            <p:ph type="body" idx="1"/>
          </p:nvPr>
        </p:nvSpPr>
        <p:spPr>
          <a:xfrm>
            <a:off x="177777" y="1265433"/>
            <a:ext cx="6940825" cy="53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6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b="1"/>
          </a:p>
          <a:p>
            <a:pPr marL="76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US" b="1"/>
              <a:t>Step </a:t>
            </a:r>
            <a:r>
              <a:rPr lang="en-US"/>
              <a:t>1: FPL benefits</a:t>
            </a:r>
            <a:endParaRPr b="1"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•"/>
            </a:pPr>
            <a:r>
              <a:rPr lang="en-US"/>
              <a:t>Sends simple prompts instead of heavy model weights </a:t>
            </a:r>
            <a:endParaRPr/>
          </a:p>
          <a:p>
            <a:pPr marL="5588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rPr lang="en-US"/>
              <a:t>	→ can </a:t>
            </a:r>
            <a:r>
              <a:rPr lang="en-US" b="1"/>
              <a:t>cut communication traffic</a:t>
            </a:r>
            <a:endParaRPr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•"/>
            </a:pPr>
            <a:r>
              <a:rPr lang="en-US"/>
              <a:t>Updates are faster and lighter → can </a:t>
            </a:r>
            <a:r>
              <a:rPr lang="en-US" b="1"/>
              <a:t>reduces total delay</a:t>
            </a:r>
            <a:endParaRPr/>
          </a:p>
          <a:p>
            <a:pPr marL="76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US" b="1"/>
              <a:t>Step </a:t>
            </a:r>
            <a:r>
              <a:rPr lang="en-US"/>
              <a:t>2: Smart task assignment</a:t>
            </a:r>
            <a:endParaRPr b="1"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Char char="•"/>
            </a:pPr>
            <a:r>
              <a:rPr lang="en-US"/>
              <a:t>Inference (fast) and training (slow) often </a:t>
            </a:r>
            <a:r>
              <a:rPr lang="en-US" b="1"/>
              <a:t>compete for GPU</a:t>
            </a:r>
            <a:endParaRPr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lang="en-US">
                <a:solidFill>
                  <a:schemeClr val="accent1"/>
                </a:solidFill>
              </a:rPr>
              <a:t>We </a:t>
            </a:r>
            <a:r>
              <a:rPr lang="en-US" b="1">
                <a:solidFill>
                  <a:schemeClr val="accent1"/>
                </a:solidFill>
              </a:rPr>
              <a:t>offload and assign tasks smartly</a:t>
            </a:r>
            <a:r>
              <a:rPr lang="en-US">
                <a:solidFill>
                  <a:schemeClr val="accent1"/>
                </a:solidFill>
              </a:rPr>
              <a:t> across edge servers</a:t>
            </a:r>
            <a:endParaRPr/>
          </a:p>
          <a:p>
            <a:pPr marL="5588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None/>
            </a:pPr>
            <a:r>
              <a:rPr lang="en-US">
                <a:solidFill>
                  <a:schemeClr val="accent1"/>
                </a:solidFill>
              </a:rPr>
              <a:t>       → can </a:t>
            </a:r>
            <a:r>
              <a:rPr lang="en-US" b="1">
                <a:solidFill>
                  <a:schemeClr val="accent1"/>
                </a:solidFill>
              </a:rPr>
              <a:t>avoid adding more GPU-equipped servers</a:t>
            </a:r>
            <a:endParaRPr/>
          </a:p>
          <a:p>
            <a:pPr marL="45720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-US" b="1"/>
              <a:t>What’s Needed</a:t>
            </a:r>
            <a:endParaRPr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lang="en-US"/>
              <a:t>Smart task scheduling to balance inference and training</a:t>
            </a:r>
            <a:endParaRPr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lang="en-US"/>
              <a:t>Lightweight, explainable analysis (e.g., queueing theory)</a:t>
            </a:r>
            <a:endParaRPr/>
          </a:p>
        </p:txBody>
      </p:sp>
      <p:sp>
        <p:nvSpPr>
          <p:cNvPr id="150" name="Google Shape;150;p5"/>
          <p:cNvSpPr txBox="1">
            <a:spLocks noGrp="1"/>
          </p:cNvSpPr>
          <p:nvPr>
            <p:ph type="title"/>
          </p:nvPr>
        </p:nvSpPr>
        <p:spPr>
          <a:xfrm>
            <a:off x="211196" y="106444"/>
            <a:ext cx="11139556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Federated Prompt Learning (FPL) </a:t>
            </a:r>
            <a:br>
              <a:rPr lang="en-US"/>
            </a:br>
            <a:r>
              <a:rPr lang="en-US"/>
              <a:t>　　　　　　　　and the Remaining Challenges</a:t>
            </a:r>
            <a:endParaRPr/>
          </a:p>
        </p:txBody>
      </p:sp>
      <p:sp>
        <p:nvSpPr>
          <p:cNvPr id="151" name="Google Shape;151;p5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52" name="Google Shape;152;p5" descr="バッジ: チェックマーク 1 枠線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2202" y="242993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 descr="バッジ: チェックマーク 1 枠線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278" y="194733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 descr="バッジ: チェックマーク 1 枠線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2202" y="331893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 descr="バッジ: チェックマーク 1 枠線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8278" y="262923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" descr="バッジ: チェックマーク 1 枠線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50402" y="568518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 descr="バッジ: チェックマーク 1 枠線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8278" y="4127599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Comparison with Existing Approaches</a:t>
            </a:r>
            <a:endParaRPr/>
          </a:p>
        </p:txBody>
      </p:sp>
      <p:sp>
        <p:nvSpPr>
          <p:cNvPr id="163" name="Google Shape;163;p4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77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What Existing Methods Cover (and Don’t)</a:t>
            </a: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3429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/>
              <a:t>Our Contribution</a:t>
            </a:r>
            <a:endParaRPr/>
          </a:p>
          <a:p>
            <a:pPr marL="914400" lvl="1" indent="-4572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Handles </a:t>
            </a:r>
            <a:r>
              <a:rPr lang="en-US" b="1"/>
              <a:t>both inference and training</a:t>
            </a:r>
            <a:r>
              <a:rPr lang="en-US"/>
              <a:t> tasks</a:t>
            </a:r>
            <a:endParaRPr/>
          </a:p>
          <a:p>
            <a:pPr marL="914400" lvl="1" indent="-4572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Enables </a:t>
            </a:r>
            <a:r>
              <a:rPr lang="en-US" b="1"/>
              <a:t>efficient off-loading</a:t>
            </a:r>
            <a:r>
              <a:rPr lang="en-US"/>
              <a:t> between edge servers</a:t>
            </a:r>
            <a:endParaRPr/>
          </a:p>
          <a:p>
            <a:pPr marL="914400" lvl="1" indent="-4572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Char char="●"/>
            </a:pPr>
            <a:r>
              <a:rPr lang="en-US"/>
              <a:t>Evaluated using </a:t>
            </a:r>
            <a:r>
              <a:rPr lang="en-US" b="1"/>
              <a:t>lightweight, explainable queueing theory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aphicFrame>
        <p:nvGraphicFramePr>
          <p:cNvPr id="165" name="Google Shape;165;p4"/>
          <p:cNvGraphicFramePr/>
          <p:nvPr/>
        </p:nvGraphicFramePr>
        <p:xfrm>
          <a:off x="360718" y="1473162"/>
          <a:ext cx="11324475" cy="3155720"/>
        </p:xfrm>
        <a:graphic>
          <a:graphicData uri="http://schemas.openxmlformats.org/drawingml/2006/table">
            <a:tbl>
              <a:tblPr firstRow="1" bandRow="1">
                <a:noFill/>
                <a:tableStyleId>{854AE706-3FB9-49F4-9637-426626816EC9}</a:tableStyleId>
              </a:tblPr>
              <a:tblGrid>
                <a:gridCol w="226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FPL(=Low Communication cost)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Edge off loading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Both Inference and Training tasks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Light calculation cost by queueing theory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Federated Prompt Learning [Guo+, IEEE TMC 2024]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✗</a:t>
                      </a:r>
                      <a:endParaRPr sz="2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✗</a:t>
                      </a:r>
                      <a:endParaRPr sz="2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✗</a:t>
                      </a:r>
                      <a:endParaRPr sz="2800" b="1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9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Edge load balancing [Ogawa+, IEEE OJCS 2025]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✗</a:t>
                      </a:r>
                      <a:endParaRPr sz="2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✗</a:t>
                      </a:r>
                      <a:endParaRPr sz="28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Our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FF0000"/>
                          </a:solidFill>
                        </a:rPr>
                        <a:t>✓</a:t>
                      </a:r>
                      <a:endParaRPr sz="28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6" name="Google Shape;166;p4"/>
          <p:cNvSpPr txBox="1"/>
          <p:nvPr/>
        </p:nvSpPr>
        <p:spPr>
          <a:xfrm>
            <a:off x="7992871" y="1176946"/>
            <a:ext cx="6093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✓: addressed / ✗: not addressed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142203" y="1469475"/>
            <a:ext cx="2281881" cy="3086315"/>
          </a:xfrm>
          <a:prstGeom prst="rect">
            <a:avLst/>
          </a:prstGeom>
          <a:noFill/>
          <a:ln w="920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5300966" y="4632593"/>
            <a:ext cx="5964357" cy="327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methods rarely handle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 inference and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Objective: Task Conflict on the Edge</a:t>
            </a:r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6203489" cy="5897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en-US" b="1"/>
              <a:t>The Core Problem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 b="1"/>
              <a:t>Inference</a:t>
            </a:r>
            <a:r>
              <a:rPr lang="en-US"/>
              <a:t>: Fast &amp; frequent → Needs low latency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 b="1"/>
              <a:t>Training</a:t>
            </a:r>
            <a:r>
              <a:rPr lang="en-US"/>
              <a:t>: Slow &amp; rare → Long duration, sensitive to interruption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 b="1"/>
              <a:t>Both tasks compete for the same GPU on edge devices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en-US" b="1"/>
              <a:t>Our Insight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/>
              <a:t>Instead of running both tasks on the same server,</a:t>
            </a:r>
            <a:br>
              <a:rPr lang="en-US"/>
            </a:br>
            <a:r>
              <a:rPr lang="en-US"/>
              <a:t>→ </a:t>
            </a:r>
            <a:r>
              <a:rPr lang="en-US" b="1"/>
              <a:t>Separate and offload tasks</a:t>
            </a:r>
            <a:r>
              <a:rPr lang="en-US"/>
              <a:t> based on application properties or characteristics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en-US" b="1"/>
              <a:t>Design Direction (objectives)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/>
              <a:t>Preserve </a:t>
            </a:r>
            <a:r>
              <a:rPr lang="en-US" b="1"/>
              <a:t>inference responsiveness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/>
              <a:t>Prevent </a:t>
            </a:r>
            <a:r>
              <a:rPr lang="en-US" b="1"/>
              <a:t>training interruption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/>
              <a:t>Achieve balance with a </a:t>
            </a:r>
            <a:r>
              <a:rPr lang="en-US" b="1"/>
              <a:t>simple, practical offloading strategy</a:t>
            </a:r>
            <a:endParaRPr/>
          </a:p>
          <a:p>
            <a:pPr marL="495300" lvl="0" indent="-190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endParaRPr/>
          </a:p>
        </p:txBody>
      </p:sp>
      <p:sp>
        <p:nvSpPr>
          <p:cNvPr id="175" name="Google Shape;175;p6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6" name="Google Shape;17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3779" y="1216953"/>
            <a:ext cx="5438821" cy="4961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6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Overview of our assumed system</a:t>
            </a:r>
            <a:endParaRPr/>
          </a:p>
        </p:txBody>
      </p:sp>
      <p:sp>
        <p:nvSpPr>
          <p:cNvPr id="182" name="Google Shape;182;p46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6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b="1"/>
              <a:t>• Distributed visual sensing using edge servers and clients</a:t>
            </a:r>
            <a:br>
              <a:rPr lang="en-US"/>
            </a:br>
            <a:r>
              <a:rPr lang="en-US" b="1"/>
              <a:t>• ES1 handles training and inference; ES2 supports task offloading</a:t>
            </a:r>
            <a:br>
              <a:rPr lang="en-US"/>
            </a:br>
            <a:r>
              <a:rPr lang="en-US" b="1"/>
              <a:t>• Merged prompts are managed via the cloud for global coordination</a:t>
            </a:r>
            <a:endParaRPr/>
          </a:p>
        </p:txBody>
      </p:sp>
      <p:sp>
        <p:nvSpPr>
          <p:cNvPr id="183" name="Google Shape;183;p46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84" name="Google Shape;18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9533" y="2441495"/>
            <a:ext cx="8424333" cy="430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Our Offloading Strategy</a:t>
            </a:r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body" idx="1"/>
          </p:nvPr>
        </p:nvSpPr>
        <p:spPr>
          <a:xfrm>
            <a:off x="261903" y="1177038"/>
            <a:ext cx="11668194" cy="540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/>
              <a:t>Key Idea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/>
              <a:t>Assign </a:t>
            </a:r>
            <a:r>
              <a:rPr lang="en-US" b="1"/>
              <a:t>different roles</a:t>
            </a:r>
            <a:r>
              <a:rPr lang="en-US"/>
              <a:t> to edge servers: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/>
              <a:t>One server </a:t>
            </a:r>
            <a:r>
              <a:rPr lang="en-US">
                <a:solidFill>
                  <a:schemeClr val="accent1"/>
                </a:solidFill>
              </a:rPr>
              <a:t>mainly</a:t>
            </a:r>
            <a:r>
              <a:rPr lang="en-US"/>
              <a:t> handles </a:t>
            </a:r>
            <a:r>
              <a:rPr lang="en-US" b="1"/>
              <a:t>training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/>
              <a:t>One server </a:t>
            </a:r>
            <a:r>
              <a:rPr lang="en-US">
                <a:solidFill>
                  <a:schemeClr val="accent1"/>
                </a:solidFill>
              </a:rPr>
              <a:t>only</a:t>
            </a:r>
            <a:r>
              <a:rPr lang="en-US"/>
              <a:t> handles </a:t>
            </a:r>
            <a:r>
              <a:rPr lang="en-US" b="1"/>
              <a:t>inference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Server Roles </a:t>
            </a:r>
            <a:endParaRPr/>
          </a:p>
          <a:p>
            <a:pPr marL="3429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/>
              <a:t> Benefits 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/>
              <a:t>Inference tasks get low latency (no queuing behind training) 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/>
              <a:t>Training tasks run without interruption 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/>
              <a:t>Simple strategy → suitable for lightweight analytical modeling</a:t>
            </a:r>
            <a:endParaRPr/>
          </a:p>
        </p:txBody>
      </p:sp>
      <p:sp>
        <p:nvSpPr>
          <p:cNvPr id="191" name="Google Shape;191;p7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92" name="Google Shape;192;p7"/>
          <p:cNvGraphicFramePr/>
          <p:nvPr/>
        </p:nvGraphicFramePr>
        <p:xfrm>
          <a:off x="993913" y="3267343"/>
          <a:ext cx="10567300" cy="1112550"/>
        </p:xfrm>
        <a:graphic>
          <a:graphicData uri="http://schemas.openxmlformats.org/drawingml/2006/table">
            <a:tbl>
              <a:tblPr firstRow="1" bandRow="1">
                <a:noFill/>
                <a:tableStyleId>{854AE706-3FB9-49F4-9637-426626816EC9}</a:tableStyleId>
              </a:tblPr>
              <a:tblGrid>
                <a:gridCol w="238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Server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Task Executed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Task Offloaded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Edge Server 1 (ES1)	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accent1"/>
                          </a:solidFill>
                        </a:rPr>
                        <a:t>Training (class 2), </a:t>
                      </a:r>
                      <a:r>
                        <a:rPr lang="en-US" sz="1800" b="1" u="none" strike="noStrike" cap="none">
                          <a:solidFill>
                            <a:schemeClr val="lt2"/>
                          </a:solidFill>
                        </a:rPr>
                        <a:t>Inference (class 1 if available)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Inference → ES2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Edge Server 2 (ES2)	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2"/>
                          </a:solidFill>
                        </a:rPr>
                        <a:t>Inference (class 1)</a:t>
                      </a:r>
                      <a:endParaRPr sz="18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Training → ES1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3" name="Google Shape;19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2146" y="937593"/>
            <a:ext cx="6468788" cy="213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Illustration of Task Offloading Behavior</a:t>
            </a:r>
            <a:endParaRPr/>
          </a:p>
        </p:txBody>
      </p:sp>
      <p:sp>
        <p:nvSpPr>
          <p:cNvPr id="200" name="Google Shape;200;p8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4002156" cy="4395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 dirty="0"/>
              <a:t>Offloading in Action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dirty="0"/>
              <a:t>When </a:t>
            </a:r>
            <a:r>
              <a:rPr lang="en-US" b="1" dirty="0"/>
              <a:t>ES1 is training</a:t>
            </a:r>
            <a:r>
              <a:rPr lang="en-US" dirty="0"/>
              <a:t>, incoming </a:t>
            </a:r>
            <a:r>
              <a:rPr lang="en-US" b="1" dirty="0"/>
              <a:t>inference tasks</a:t>
            </a:r>
            <a:r>
              <a:rPr lang="en-US" dirty="0"/>
              <a:t> are offloaded to </a:t>
            </a:r>
            <a:r>
              <a:rPr lang="en-US" b="1" dirty="0"/>
              <a:t>ES2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dirty="0"/>
              <a:t>When </a:t>
            </a:r>
            <a:r>
              <a:rPr lang="en-US" b="1" dirty="0"/>
              <a:t>ES2 receives training tasks</a:t>
            </a:r>
            <a:r>
              <a:rPr lang="en-US" dirty="0"/>
              <a:t>, they are offloaded to </a:t>
            </a:r>
            <a:r>
              <a:rPr lang="en-US" b="1" dirty="0"/>
              <a:t>ES1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</a:pPr>
            <a:r>
              <a:rPr lang="en-US" dirty="0"/>
              <a:t>Each server runs </a:t>
            </a:r>
            <a:r>
              <a:rPr lang="en-US" b="1" dirty="0"/>
              <a:t>only one task at a time</a:t>
            </a:r>
            <a:r>
              <a:rPr lang="en-US" dirty="0"/>
              <a:t> (single GPU per server)</a:t>
            </a:r>
            <a:endParaRPr dirty="0"/>
          </a:p>
          <a:p>
            <a:pPr marL="927100" lvl="1" indent="-215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dirty="0"/>
          </a:p>
        </p:txBody>
      </p:sp>
      <p:sp>
        <p:nvSpPr>
          <p:cNvPr id="201" name="Google Shape;201;p8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899608" y="1127226"/>
            <a:ext cx="2062779" cy="712757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62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7423494" y="1233101"/>
            <a:ext cx="242115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181600" y="3132404"/>
            <a:ext cx="4436533" cy="712757"/>
          </a:xfrm>
          <a:prstGeom prst="rect">
            <a:avLst/>
          </a:prstGeom>
          <a:solidFill>
            <a:srgbClr val="CCE4BE"/>
          </a:solidFill>
          <a:ln w="25400" cap="flat" cmpd="sng">
            <a:solidFill>
              <a:srgbClr val="62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7609741" y="5137582"/>
            <a:ext cx="3866641" cy="712757"/>
          </a:xfrm>
          <a:prstGeom prst="rect">
            <a:avLst/>
          </a:prstGeom>
          <a:solidFill>
            <a:srgbClr val="CCE4BE"/>
          </a:solidFill>
          <a:ln w="25400" cap="flat" cmpd="sng">
            <a:solidFill>
              <a:srgbClr val="623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8"/>
          <p:cNvCxnSpPr>
            <a:stCxn id="202" idx="1"/>
          </p:cNvCxnSpPr>
          <p:nvPr/>
        </p:nvCxnSpPr>
        <p:spPr>
          <a:xfrm flipH="1">
            <a:off x="5746708" y="1483604"/>
            <a:ext cx="1152900" cy="1648800"/>
          </a:xfrm>
          <a:prstGeom prst="curvedConnector2">
            <a:avLst/>
          </a:prstGeom>
          <a:noFill/>
          <a:ln w="50800" cap="flat" cmpd="sng">
            <a:solidFill>
              <a:schemeClr val="lt2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7" name="Google Shape;207;p8"/>
          <p:cNvCxnSpPr>
            <a:stCxn id="202" idx="3"/>
          </p:cNvCxnSpPr>
          <p:nvPr/>
        </p:nvCxnSpPr>
        <p:spPr>
          <a:xfrm>
            <a:off x="8962387" y="1483604"/>
            <a:ext cx="1655100" cy="3654000"/>
          </a:xfrm>
          <a:prstGeom prst="curvedConnector2">
            <a:avLst/>
          </a:prstGeom>
          <a:noFill/>
          <a:ln w="50800" cap="flat" cmpd="sng">
            <a:solidFill>
              <a:schemeClr val="lt2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8" name="Google Shape;208;p8"/>
          <p:cNvCxnSpPr>
            <a:endCxn id="205" idx="1"/>
          </p:cNvCxnSpPr>
          <p:nvPr/>
        </p:nvCxnSpPr>
        <p:spPr>
          <a:xfrm rot="-5400000" flipH="1">
            <a:off x="6101791" y="3986011"/>
            <a:ext cx="1648800" cy="1367100"/>
          </a:xfrm>
          <a:prstGeom prst="curvedConnector2">
            <a:avLst/>
          </a:prstGeom>
          <a:noFill/>
          <a:ln w="50800" cap="flat" cmpd="sng">
            <a:solidFill>
              <a:schemeClr val="lt2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09" name="Google Shape;209;p8"/>
          <p:cNvCxnSpPr>
            <a:stCxn id="205" idx="1"/>
            <a:endCxn id="204" idx="2"/>
          </p:cNvCxnSpPr>
          <p:nvPr/>
        </p:nvCxnSpPr>
        <p:spPr>
          <a:xfrm rot="10800000">
            <a:off x="7399741" y="3845161"/>
            <a:ext cx="210000" cy="1648800"/>
          </a:xfrm>
          <a:prstGeom prst="curvedConnector2">
            <a:avLst/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210" name="Google Shape;210;p8"/>
          <p:cNvSpPr txBox="1"/>
          <p:nvPr/>
        </p:nvSpPr>
        <p:spPr>
          <a:xfrm>
            <a:off x="5642611" y="3288133"/>
            <a:ext cx="423302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ES1: Mainly Training Server  </a:t>
            </a:r>
            <a:endParaRPr/>
          </a:p>
        </p:txBody>
      </p:sp>
      <p:sp>
        <p:nvSpPr>
          <p:cNvPr id="211" name="Google Shape;211;p8"/>
          <p:cNvSpPr txBox="1"/>
          <p:nvPr/>
        </p:nvSpPr>
        <p:spPr>
          <a:xfrm>
            <a:off x="7860789" y="5269484"/>
            <a:ext cx="37724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ES2: Inference Server  </a:t>
            </a:r>
            <a:endParaRPr/>
          </a:p>
        </p:txBody>
      </p:sp>
      <p:sp>
        <p:nvSpPr>
          <p:cNvPr id="212" name="Google Shape;212;p8"/>
          <p:cNvSpPr txBox="1"/>
          <p:nvPr/>
        </p:nvSpPr>
        <p:spPr>
          <a:xfrm>
            <a:off x="6242769" y="2024527"/>
            <a:ext cx="32346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Inference or Training Requests 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4021230" y="4511631"/>
            <a:ext cx="323462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Offload Inference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training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7629338" y="4236712"/>
            <a:ext cx="3234622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Offload training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8"/>
          <p:cNvCxnSpPr>
            <a:cxnSpLocks/>
          </p:cNvCxnSpPr>
          <p:nvPr/>
        </p:nvCxnSpPr>
        <p:spPr>
          <a:xfrm rot="5400000">
            <a:off x="5265985" y="1541091"/>
            <a:ext cx="1878534" cy="1388720"/>
          </a:xfrm>
          <a:prstGeom prst="curvedConnector3">
            <a:avLst>
              <a:gd name="adj1" fmla="val -5714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cxnSp>
        <p:nvCxnSpPr>
          <p:cNvPr id="216" name="Google Shape;216;p8"/>
          <p:cNvCxnSpPr>
            <a:cxnSpLocks/>
          </p:cNvCxnSpPr>
          <p:nvPr/>
        </p:nvCxnSpPr>
        <p:spPr>
          <a:xfrm rot="16200000" flipH="1">
            <a:off x="8012025" y="2183463"/>
            <a:ext cx="3813326" cy="1912602"/>
          </a:xfrm>
          <a:prstGeom prst="curvedConnector3">
            <a:avLst>
              <a:gd name="adj1" fmla="val -269"/>
            </a:avLst>
          </a:prstGeom>
          <a:noFill/>
          <a:ln w="50800" cap="flat" cmpd="sng">
            <a:solidFill>
              <a:schemeClr val="accent1"/>
            </a:solidFill>
            <a:prstDash val="solid"/>
            <a:round/>
            <a:headEnd type="none" w="sm" len="sm"/>
            <a:tailEnd type="triangle" w="lg" len="lg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13659F-7A56-F828-EAFF-03D91CFB3A29}"/>
              </a:ext>
            </a:extLst>
          </p:cNvPr>
          <p:cNvSpPr/>
          <p:nvPr/>
        </p:nvSpPr>
        <p:spPr>
          <a:xfrm>
            <a:off x="495759" y="5561816"/>
            <a:ext cx="6291559" cy="816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To derive delay time with our offloading behavior,</a:t>
            </a:r>
          </a:p>
          <a:p>
            <a:pPr algn="ctr"/>
            <a:r>
              <a:rPr kumimoji="1" lang="en-US" altLang="ja-JP" sz="2000" dirty="0"/>
              <a:t>we use queueing theory.</a:t>
            </a:r>
            <a:endParaRPr kumimoji="1" lang="ja-JP" alt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11933582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b="1"/>
              <a:t>Modeling Task Scheduling via Queueing Theory</a:t>
            </a:r>
            <a:endParaRPr/>
          </a:p>
        </p:txBody>
      </p:sp>
      <p:sp>
        <p:nvSpPr>
          <p:cNvPr id="260" name="Google Shape;260;p10"/>
          <p:cNvSpPr txBox="1">
            <a:spLocks noGrp="1"/>
          </p:cNvSpPr>
          <p:nvPr>
            <p:ph type="body" idx="1"/>
          </p:nvPr>
        </p:nvSpPr>
        <p:spPr>
          <a:xfrm>
            <a:off x="188844" y="947057"/>
            <a:ext cx="11668194" cy="56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Why Queueing Theory?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Lightweight and explainable evaluation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No need for complex simulation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Captures system delay characteristics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Assumptions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Each edge server = </a:t>
            </a:r>
            <a:r>
              <a:rPr lang="en-US" b="1"/>
              <a:t>single-server queue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Two task types (classes):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b="1"/>
              <a:t>Class 1</a:t>
            </a:r>
            <a:r>
              <a:rPr lang="en-US"/>
              <a:t> = Inference (short, frequent)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b="1"/>
              <a:t>Class 2</a:t>
            </a:r>
            <a:r>
              <a:rPr lang="en-US"/>
              <a:t> = Training (long, rare)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/>
              <a:t>Queueing Model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Queue type: </a:t>
            </a:r>
            <a:r>
              <a:rPr lang="en-US" b="1"/>
              <a:t>M/G/1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M = Poisson arrivals (λ)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G = General service time (b, variance supported)</a:t>
            </a:r>
            <a:endParaRPr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1 = Single server (1 GPU per ES)</a:t>
            </a:r>
            <a:endParaRPr/>
          </a:p>
          <a:p>
            <a:pPr marL="483869" lvl="0" indent="-20192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/>
          </a:p>
        </p:txBody>
      </p:sp>
      <p:sp>
        <p:nvSpPr>
          <p:cNvPr id="261" name="Google Shape;261;p10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62" name="Google Shape;26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9367" y="1129037"/>
            <a:ext cx="5822301" cy="2926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0081" y="4311452"/>
            <a:ext cx="2914327" cy="159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M/G/1 Queue with Priority Scheduling</a:t>
            </a:r>
            <a:endParaRPr/>
          </a:p>
        </p:txBody>
      </p:sp>
      <p:sp>
        <p:nvSpPr>
          <p:cNvPr id="270" name="Google Shape;270;p12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390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 dirty="0"/>
              <a:t>Model Structure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b="1" dirty="0"/>
              <a:t>Single server</a:t>
            </a:r>
            <a:r>
              <a:rPr lang="en-US" dirty="0"/>
              <a:t> with two task classes: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b="1" dirty="0"/>
              <a:t>Class 1</a:t>
            </a:r>
            <a:r>
              <a:rPr lang="en-US" dirty="0"/>
              <a:t> (Inference): high priority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b="1" dirty="0"/>
              <a:t>Class 2</a:t>
            </a:r>
            <a:r>
              <a:rPr lang="en-US" dirty="0"/>
              <a:t> (Training): low priority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Arrival: Poisson process (          )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Service time: General distribution (b₁, b₂)</a:t>
            </a:r>
            <a:endParaRPr dirty="0"/>
          </a:p>
          <a:p>
            <a:pPr marL="495300" lvl="0" indent="-190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 dirty="0"/>
              <a:t>Key Parameters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                     (inference load)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                      (training load)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dirty="0"/>
              <a:t>                        (total system load)</a:t>
            </a:r>
            <a:endParaRPr dirty="0"/>
          </a:p>
          <a:p>
            <a:pPr marL="495300" lvl="0" indent="-1905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953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271" name="Google Shape;271;p12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8938830" y="2887678"/>
            <a:ext cx="1437622" cy="1493399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 rot="-1060525">
            <a:off x="6765032" y="3682127"/>
            <a:ext cx="1729658" cy="955300"/>
          </a:xfrm>
          <a:prstGeom prst="rightArrow">
            <a:avLst>
              <a:gd name="adj1" fmla="val 72679"/>
              <a:gd name="adj2" fmla="val 294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8779184" y="2495106"/>
            <a:ext cx="24449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/>
              <a:t>Each 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dge </a:t>
            </a:r>
            <a:r>
              <a:rPr lang="en-US" sz="2000" dirty="0"/>
              <a:t>se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rver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5827605" y="1667354"/>
            <a:ext cx="477221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4D6BA3"/>
                </a:solidFill>
                <a:latin typeface="Arial"/>
                <a:ea typeface="Arial"/>
                <a:cs typeface="Arial"/>
                <a:sym typeface="Arial"/>
              </a:rPr>
              <a:t>inference task </a:t>
            </a:r>
            <a:r>
              <a:rPr lang="en-US" sz="2800" b="0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λ₁</a:t>
            </a:r>
            <a:r>
              <a:rPr lang="en-US" sz="2800" b="0" i="0" u="none" strike="noStrike" cap="none">
                <a:solidFill>
                  <a:srgbClr val="4D6BA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 rot="1039798">
            <a:off x="6579007" y="2519394"/>
            <a:ext cx="1758475" cy="351495"/>
          </a:xfrm>
          <a:prstGeom prst="rightArrow">
            <a:avLst>
              <a:gd name="adj1" fmla="val 28868"/>
              <a:gd name="adj2" fmla="val 98323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6016553" y="4885645"/>
            <a:ext cx="477221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training task </a:t>
            </a:r>
            <a:r>
              <a:rPr lang="en-US" sz="28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λ</a:t>
            </a:r>
            <a:r>
              <a:rPr lang="en-US" sz="1400" b="0" i="0" u="none" strike="noStrike"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4;p12">
            <a:extLst>
              <a:ext uri="{FF2B5EF4-FFF2-40B4-BE49-F238E27FC236}">
                <a16:creationId xmlns:a16="http://schemas.microsoft.com/office/drawing/2014/main" id="{74B51F8A-FC65-81EC-EC03-12D57B7DCE66}"/>
              </a:ext>
            </a:extLst>
          </p:cNvPr>
          <p:cNvSpPr txBox="1"/>
          <p:nvPr/>
        </p:nvSpPr>
        <p:spPr>
          <a:xfrm>
            <a:off x="8938830" y="4477393"/>
            <a:ext cx="2444936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time </a:t>
            </a:r>
            <a:r>
              <a:rPr lang="en-US" altLang="ja-JP" sz="1800" dirty="0"/>
              <a:t>b₁, b₂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3DADDD7-5590-A48E-15AF-D561E1B9B726}"/>
                  </a:ext>
                </a:extLst>
              </p:cNvPr>
              <p:cNvSpPr txBox="1"/>
              <p:nvPr/>
            </p:nvSpPr>
            <p:spPr>
              <a:xfrm>
                <a:off x="1060069" y="4847106"/>
                <a:ext cx="105809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1800"/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C3DADDD7-5590-A48E-15AF-D561E1B9B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69" y="4847106"/>
                <a:ext cx="1058098" cy="276999"/>
              </a:xfrm>
              <a:prstGeom prst="rect">
                <a:avLst/>
              </a:prstGeom>
              <a:blipFill>
                <a:blip r:embed="rId3"/>
                <a:stretch>
                  <a:fillRect l="-3571" b="-304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813C759-7E3F-8268-5731-230B78CF4BB1}"/>
                  </a:ext>
                </a:extLst>
              </p:cNvPr>
              <p:cNvSpPr txBox="1"/>
              <p:nvPr/>
            </p:nvSpPr>
            <p:spPr>
              <a:xfrm>
                <a:off x="1060069" y="5289285"/>
                <a:ext cx="105809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800"/>
              </a:p>
            </p:txBody>
          </p:sp>
        </mc:Choice>
        <mc:Fallback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813C759-7E3F-8268-5731-230B78CF4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69" y="5289285"/>
                <a:ext cx="1058098" cy="276999"/>
              </a:xfrm>
              <a:prstGeom prst="rect">
                <a:avLst/>
              </a:prstGeom>
              <a:blipFill>
                <a:blip r:embed="rId4"/>
                <a:stretch>
                  <a:fillRect l="-3571" r="-1190" b="-304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AC14C90-9B0F-D96E-D521-E2C18F00B59D}"/>
                  </a:ext>
                </a:extLst>
              </p:cNvPr>
              <p:cNvSpPr txBox="1"/>
              <p:nvPr/>
            </p:nvSpPr>
            <p:spPr>
              <a:xfrm>
                <a:off x="921173" y="5813292"/>
                <a:ext cx="133589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80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AC14C90-9B0F-D96E-D521-E2C18F00B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73" y="5813292"/>
                <a:ext cx="1335890" cy="276999"/>
              </a:xfrm>
              <a:prstGeom prst="rect">
                <a:avLst/>
              </a:prstGeom>
              <a:blipFill>
                <a:blip r:embed="rId5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55DF6CE-98AE-C859-11E6-59DA679AAC57}"/>
                  </a:ext>
                </a:extLst>
              </p:cNvPr>
              <p:cNvSpPr txBox="1"/>
              <p:nvPr/>
            </p:nvSpPr>
            <p:spPr>
              <a:xfrm>
                <a:off x="2983477" y="2887678"/>
                <a:ext cx="19380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sz="180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55DF6CE-98AE-C859-11E6-59DA679AA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477" y="2887678"/>
                <a:ext cx="193805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Modeling Our Offloading Strategy</a:t>
            </a:r>
            <a:endParaRPr/>
          </a:p>
        </p:txBody>
      </p:sp>
      <p:sp>
        <p:nvSpPr>
          <p:cNvPr id="300" name="Google Shape;300;p14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19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 dirty="0"/>
              <a:t>System Overview (review)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Two edge servers: </a:t>
            </a:r>
            <a:r>
              <a:rPr lang="en-US" b="1" dirty="0"/>
              <a:t>ES1</a:t>
            </a:r>
            <a:r>
              <a:rPr lang="en-US" dirty="0"/>
              <a:t> and </a:t>
            </a:r>
            <a:r>
              <a:rPr lang="en-US" b="1" dirty="0"/>
              <a:t>ES2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Task classes: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b="1" dirty="0"/>
              <a:t>Class 1 (Inference)</a:t>
            </a:r>
            <a:r>
              <a:rPr lang="en-US" dirty="0"/>
              <a:t>: frequent, short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b="1" dirty="0"/>
              <a:t>Class 2 (Training)</a:t>
            </a:r>
            <a:r>
              <a:rPr lang="en-US" dirty="0"/>
              <a:t>: rare, long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Each server = </a:t>
            </a:r>
            <a:r>
              <a:rPr lang="en-US" b="1" dirty="0"/>
              <a:t>single-server M/G/1 queue</a:t>
            </a:r>
            <a:endParaRPr dirty="0"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 dirty="0"/>
              <a:t>Analytical Modeling Approach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ES1: Mixed queue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Executes </a:t>
            </a:r>
            <a:r>
              <a:rPr lang="en-US" dirty="0">
                <a:solidFill>
                  <a:srgbClr val="FF0000"/>
                </a:solidFill>
              </a:rPr>
              <a:t>training</a:t>
            </a:r>
            <a:r>
              <a:rPr lang="en-US" dirty="0"/>
              <a:t> + offloaded </a:t>
            </a:r>
            <a:r>
              <a:rPr lang="en-US" dirty="0">
                <a:solidFill>
                  <a:srgbClr val="FF0000"/>
                </a:solidFill>
              </a:rPr>
              <a:t>training</a:t>
            </a:r>
            <a:r>
              <a:rPr lang="en-US" dirty="0"/>
              <a:t> from ES2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Offloads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inference</a:t>
            </a:r>
            <a:r>
              <a:rPr lang="en-US" dirty="0"/>
              <a:t> to ES2 </a:t>
            </a:r>
            <a:r>
              <a:rPr lang="en-US" dirty="0">
                <a:solidFill>
                  <a:srgbClr val="FF0000"/>
                </a:solidFill>
              </a:rPr>
              <a:t>during training</a:t>
            </a:r>
            <a:endParaRPr dirty="0">
              <a:solidFill>
                <a:srgbClr val="FF0000"/>
              </a:solidFill>
            </a:endParaRPr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ES2: Primarily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inference</a:t>
            </a:r>
            <a:r>
              <a:rPr lang="en-US" dirty="0"/>
              <a:t> queue</a:t>
            </a:r>
            <a:endParaRPr dirty="0"/>
          </a:p>
          <a:p>
            <a:pPr marL="1257300" lvl="2" indent="-342900" algn="l" rtl="0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●"/>
            </a:pPr>
            <a:r>
              <a:rPr lang="en-US" dirty="0"/>
              <a:t>Receives offloaded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inference</a:t>
            </a:r>
            <a:r>
              <a:rPr lang="en-US" dirty="0"/>
              <a:t> tasks from ES1</a:t>
            </a:r>
            <a:endParaRPr dirty="0"/>
          </a:p>
          <a:p>
            <a:pPr marL="483869" lvl="0" indent="-20192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301" name="Google Shape;301;p14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7122579" y="4498313"/>
            <a:ext cx="293264" cy="914028"/>
          </a:xfrm>
          <a:prstGeom prst="upDownArrow">
            <a:avLst>
              <a:gd name="adj1" fmla="val 50000"/>
              <a:gd name="adj2" fmla="val 25170"/>
            </a:avLst>
          </a:prstGeom>
          <a:solidFill>
            <a:schemeClr val="accent6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7055462" y="4295121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7618750" y="4283007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7618749" y="5416136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 rot="-1060525">
            <a:off x="6650477" y="4467695"/>
            <a:ext cx="357094" cy="161090"/>
          </a:xfrm>
          <a:prstGeom prst="rightArrow">
            <a:avLst>
              <a:gd name="adj1" fmla="val 72679"/>
              <a:gd name="adj2" fmla="val 294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 rot="1039798">
            <a:off x="6578757" y="5298073"/>
            <a:ext cx="392550" cy="73192"/>
          </a:xfrm>
          <a:prstGeom prst="rightArrow">
            <a:avLst>
              <a:gd name="adj1" fmla="val 62945"/>
              <a:gd name="adj2" fmla="val 51247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7046273" y="5420604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>
            <a:off x="7428627" y="4007885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7361843" y="5679063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14"/>
          <p:cNvCxnSpPr/>
          <p:nvPr/>
        </p:nvCxnSpPr>
        <p:spPr>
          <a:xfrm rot="-5400000">
            <a:off x="6394615" y="4931708"/>
            <a:ext cx="838500" cy="273600"/>
          </a:xfrm>
          <a:prstGeom prst="curvedConnector3">
            <a:avLst>
              <a:gd name="adj1" fmla="val 50896"/>
            </a:avLst>
          </a:prstGeom>
          <a:noFill/>
          <a:ln w="9525" cap="flat" cmpd="sng">
            <a:solidFill>
              <a:srgbClr val="E57373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312" name="Google Shape;312;p14"/>
          <p:cNvCxnSpPr>
            <a:endCxn id="307" idx="0"/>
          </p:cNvCxnSpPr>
          <p:nvPr/>
        </p:nvCxnSpPr>
        <p:spPr>
          <a:xfrm rot="-5400000" flipH="1">
            <a:off x="6290242" y="4699777"/>
            <a:ext cx="1064100" cy="2304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rgbClr val="4D6BA3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13" name="Google Shape;313;p14"/>
          <p:cNvSpPr txBox="1"/>
          <p:nvPr/>
        </p:nvSpPr>
        <p:spPr>
          <a:xfrm>
            <a:off x="6096000" y="5635781"/>
            <a:ext cx="135806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Offload all training task</a:t>
            </a:r>
            <a:endParaRPr sz="9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6157655" y="3841059"/>
            <a:ext cx="13388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D6BA3"/>
                </a:solidFill>
                <a:latin typeface="Arial"/>
                <a:ea typeface="Arial"/>
                <a:cs typeface="Arial"/>
                <a:sym typeface="Arial"/>
              </a:rPr>
              <a:t>Offload inference task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4D6BA3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 b="1" i="0" u="none" strike="noStrike" cap="none">
                <a:solidFill>
                  <a:srgbClr val="4D6BA3"/>
                </a:solidFill>
                <a:latin typeface="Arial"/>
                <a:ea typeface="Arial"/>
                <a:cs typeface="Arial"/>
                <a:sym typeface="Arial"/>
              </a:rPr>
              <a:t>conditional</a:t>
            </a:r>
            <a:r>
              <a:rPr lang="en-US" sz="900" b="0" i="0" u="none" strike="noStrike" cap="none">
                <a:solidFill>
                  <a:srgbClr val="4D6BA3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sz="900" b="0" i="0" u="none" strike="noStrike" cap="none">
              <a:solidFill>
                <a:srgbClr val="4D6BA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6929445" y="4789699"/>
            <a:ext cx="16674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Weak dependency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0194204" y="4229704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10757492" y="4217590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0744371" y="5472939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 rot="-1060525">
            <a:off x="9776957" y="4323411"/>
            <a:ext cx="357094" cy="241864"/>
          </a:xfrm>
          <a:prstGeom prst="rightArrow">
            <a:avLst>
              <a:gd name="adj1" fmla="val 72679"/>
              <a:gd name="adj2" fmla="val 294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 rot="1039798">
            <a:off x="9710643" y="5313773"/>
            <a:ext cx="392550" cy="115250"/>
          </a:xfrm>
          <a:prstGeom prst="rightArrow">
            <a:avLst>
              <a:gd name="adj1" fmla="val 62945"/>
              <a:gd name="adj2" fmla="val 51247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0171895" y="5477407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10567369" y="3942468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10487465" y="5735866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9377716" y="4751421"/>
            <a:ext cx="19447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approx. independency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 rot="1039798">
            <a:off x="6632749" y="4264726"/>
            <a:ext cx="392550" cy="73192"/>
          </a:xfrm>
          <a:prstGeom prst="rightArrow">
            <a:avLst>
              <a:gd name="adj1" fmla="val 62945"/>
              <a:gd name="adj2" fmla="val 51247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 rot="-1060525">
            <a:off x="6626117" y="5476009"/>
            <a:ext cx="357094" cy="161090"/>
          </a:xfrm>
          <a:prstGeom prst="rightArrow">
            <a:avLst>
              <a:gd name="adj1" fmla="val 72679"/>
              <a:gd name="adj2" fmla="val 29455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8580266" y="4551366"/>
            <a:ext cx="73936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〜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8613485" y="4714542"/>
            <a:ext cx="73936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〜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p14"/>
          <p:cNvGraphicFramePr/>
          <p:nvPr>
            <p:extLst>
              <p:ext uri="{D42A27DB-BD31-4B8C-83A1-F6EECF244321}">
                <p14:modId xmlns:p14="http://schemas.microsoft.com/office/powerpoint/2010/main" val="1681730667"/>
              </p:ext>
            </p:extLst>
          </p:nvPr>
        </p:nvGraphicFramePr>
        <p:xfrm>
          <a:off x="5416827" y="1455089"/>
          <a:ext cx="6586350" cy="1746435"/>
        </p:xfrm>
        <a:graphic>
          <a:graphicData uri="http://schemas.openxmlformats.org/drawingml/2006/table">
            <a:tbl>
              <a:tblPr firstRow="1" bandRow="1">
                <a:noFill/>
                <a:tableStyleId>{854AE706-3FB9-49F4-9637-426626816EC9}</a:tableStyleId>
              </a:tblPr>
              <a:tblGrid>
                <a:gridCol w="219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Server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Task Executed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Task Offloaded 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Edge Server 1 (ES1)	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accent1"/>
                          </a:solidFill>
                        </a:rPr>
                        <a:t>Training (class 2), </a:t>
                      </a:r>
                      <a:r>
                        <a:rPr lang="en-US" sz="1800" b="1" u="none" strike="noStrike" cap="none" dirty="0">
                          <a:solidFill>
                            <a:schemeClr val="lt2"/>
                          </a:solidFill>
                        </a:rPr>
                        <a:t>Inference (class 1 if available)</a:t>
                      </a:r>
                      <a:endParaRPr sz="1800" b="1" u="none" strike="noStrike" cap="none" dirty="0">
                        <a:solidFill>
                          <a:schemeClr val="lt2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Inference → ES2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Edge Server 2 (ES2)	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2"/>
                          </a:solidFill>
                        </a:rPr>
                        <a:t>Inference (class 1)</a:t>
                      </a:r>
                      <a:endParaRPr sz="18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Training → ES1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Google Shape;326;p14">
            <a:extLst>
              <a:ext uri="{FF2B5EF4-FFF2-40B4-BE49-F238E27FC236}">
                <a16:creationId xmlns:a16="http://schemas.microsoft.com/office/drawing/2014/main" id="{39EF3622-82CC-C2A5-7386-1E12C91ACADA}"/>
              </a:ext>
            </a:extLst>
          </p:cNvPr>
          <p:cNvSpPr/>
          <p:nvPr/>
        </p:nvSpPr>
        <p:spPr>
          <a:xfrm rot="1039798">
            <a:off x="9695466" y="4083243"/>
            <a:ext cx="434189" cy="108043"/>
          </a:xfrm>
          <a:prstGeom prst="rightArrow">
            <a:avLst>
              <a:gd name="adj1" fmla="val 16763"/>
              <a:gd name="adj2" fmla="val 22909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C78CCDA-1381-4EB4-5EE8-C821DA01974C}"/>
              </a:ext>
            </a:extLst>
          </p:cNvPr>
          <p:cNvSpPr/>
          <p:nvPr/>
        </p:nvSpPr>
        <p:spPr>
          <a:xfrm>
            <a:off x="770675" y="6139257"/>
            <a:ext cx="9796694" cy="607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We can apply our offloading model </a:t>
            </a:r>
          </a:p>
          <a:p>
            <a:pPr algn="ctr"/>
            <a:r>
              <a:rPr kumimoji="1" lang="en-US" altLang="ja-JP" sz="2000" dirty="0"/>
              <a:t>to conventional priority queueing model (= baseline method)</a:t>
            </a:r>
            <a:endParaRPr kumimoji="1" lang="ja-JP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Baseline Methods: Priority Scheduling</a:t>
            </a:r>
            <a:endParaRPr/>
          </a:p>
        </p:txBody>
      </p:sp>
      <p:sp>
        <p:nvSpPr>
          <p:cNvPr id="223" name="Google Shape;223;p9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517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 dirty="0"/>
              <a:t>Baseline 1: Non-Preemptive Priority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Training task cannot be interrupted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Inference must </a:t>
            </a:r>
            <a:r>
              <a:rPr lang="en-US" b="1" dirty="0"/>
              <a:t>wait</a:t>
            </a:r>
            <a:r>
              <a:rPr lang="en-US" dirty="0"/>
              <a:t> if training is in progress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Stable training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Inference latency becomes large</a:t>
            </a:r>
            <a:endParaRPr dirty="0"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 dirty="0"/>
              <a:t>Baseline 2: Preemptive Priority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Inference task </a:t>
            </a:r>
            <a:r>
              <a:rPr lang="en-US" b="1" dirty="0"/>
              <a:t>interrupts training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Training is paused and resumes after inference finishes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Low inference latency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Training may suffer from </a:t>
            </a:r>
            <a:r>
              <a:rPr lang="en-US" b="1" dirty="0"/>
              <a:t>frequent interruptions</a:t>
            </a:r>
            <a:endParaRPr dirty="0"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b="1" dirty="0"/>
              <a:t>Common Assumption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Both tasks are executed on the </a:t>
            </a:r>
            <a:r>
              <a:rPr lang="en-US" b="1" dirty="0"/>
              <a:t>same edge server (No offloading)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dirty="0"/>
              <a:t>Server can run </a:t>
            </a:r>
            <a:r>
              <a:rPr lang="en-US" b="1" dirty="0"/>
              <a:t>only one task at a time</a:t>
            </a:r>
            <a:r>
              <a:rPr lang="en-US" dirty="0"/>
              <a:t> (single GPU)</a:t>
            </a:r>
            <a:endParaRPr dirty="0"/>
          </a:p>
          <a:p>
            <a:pPr marL="483869" lvl="0" indent="-201929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483869" lvl="0" indent="-20192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483869" lvl="0" indent="-201929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224" name="Google Shape;224;p9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225" name="Google Shape;225;p9"/>
          <p:cNvGrpSpPr/>
          <p:nvPr/>
        </p:nvGrpSpPr>
        <p:grpSpPr>
          <a:xfrm>
            <a:off x="9160721" y="867431"/>
            <a:ext cx="2614679" cy="4178704"/>
            <a:chOff x="1350232" y="853382"/>
            <a:chExt cx="4295775" cy="5706350"/>
          </a:xfrm>
        </p:grpSpPr>
        <p:sp>
          <p:nvSpPr>
            <p:cNvPr id="226" name="Google Shape;226;p9"/>
            <p:cNvSpPr/>
            <p:nvPr/>
          </p:nvSpPr>
          <p:spPr>
            <a:xfrm>
              <a:off x="1350232" y="853382"/>
              <a:ext cx="4295775" cy="5706350"/>
            </a:xfrm>
            <a:prstGeom prst="rect">
              <a:avLst/>
            </a:prstGeom>
            <a:solidFill>
              <a:srgbClr val="D8D8D8"/>
            </a:solidFill>
            <a:ln w="25400" cap="flat" cmpd="sng">
              <a:solidFill>
                <a:srgbClr val="62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"/>
            <p:cNvSpPr txBox="1"/>
            <p:nvPr/>
          </p:nvSpPr>
          <p:spPr>
            <a:xfrm>
              <a:off x="2358491" y="997063"/>
              <a:ext cx="2421156" cy="1086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Preemptive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9"/>
          <p:cNvGrpSpPr/>
          <p:nvPr/>
        </p:nvGrpSpPr>
        <p:grpSpPr>
          <a:xfrm>
            <a:off x="6525245" y="862896"/>
            <a:ext cx="2496478" cy="4183238"/>
            <a:chOff x="1411011" y="721344"/>
            <a:chExt cx="4572930" cy="5706350"/>
          </a:xfrm>
        </p:grpSpPr>
        <p:sp>
          <p:nvSpPr>
            <p:cNvPr id="229" name="Google Shape;229;p9"/>
            <p:cNvSpPr/>
            <p:nvPr/>
          </p:nvSpPr>
          <p:spPr>
            <a:xfrm>
              <a:off x="1411011" y="721344"/>
              <a:ext cx="4572930" cy="5706350"/>
            </a:xfrm>
            <a:prstGeom prst="rect">
              <a:avLst/>
            </a:prstGeom>
            <a:solidFill>
              <a:srgbClr val="D8D8D8"/>
            </a:solidFill>
            <a:ln w="25400" cap="flat" cmpd="sng">
              <a:solidFill>
                <a:srgbClr val="6233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"/>
            <p:cNvSpPr txBox="1"/>
            <p:nvPr/>
          </p:nvSpPr>
          <p:spPr>
            <a:xfrm>
              <a:off x="2254623" y="851514"/>
              <a:ext cx="28129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Non-Preemptive</a:t>
              </a:r>
              <a:endParaRPr/>
            </a:p>
          </p:txBody>
        </p:sp>
      </p:grpSp>
      <p:grpSp>
        <p:nvGrpSpPr>
          <p:cNvPr id="231" name="Google Shape;231;p9"/>
          <p:cNvGrpSpPr/>
          <p:nvPr/>
        </p:nvGrpSpPr>
        <p:grpSpPr>
          <a:xfrm>
            <a:off x="9256760" y="1664948"/>
            <a:ext cx="2518640" cy="3050238"/>
            <a:chOff x="2194514" y="1828068"/>
            <a:chExt cx="2873051" cy="3050238"/>
          </a:xfrm>
        </p:grpSpPr>
        <p:grpSp>
          <p:nvGrpSpPr>
            <p:cNvPr id="232" name="Google Shape;232;p9"/>
            <p:cNvGrpSpPr/>
            <p:nvPr/>
          </p:nvGrpSpPr>
          <p:grpSpPr>
            <a:xfrm>
              <a:off x="2194516" y="1828068"/>
              <a:ext cx="2873049" cy="760225"/>
              <a:chOff x="2194516" y="1828068"/>
              <a:chExt cx="2873049" cy="760225"/>
            </a:xfrm>
          </p:grpSpPr>
          <p:sp>
            <p:nvSpPr>
              <p:cNvPr id="233" name="Google Shape;233;p9"/>
              <p:cNvSpPr/>
              <p:nvPr/>
            </p:nvSpPr>
            <p:spPr>
              <a:xfrm>
                <a:off x="2194516" y="1828068"/>
                <a:ext cx="2688541" cy="760225"/>
              </a:xfrm>
              <a:prstGeom prst="rect">
                <a:avLst/>
              </a:prstGeom>
              <a:solidFill>
                <a:srgbClr val="E5F1DE"/>
              </a:solidFill>
              <a:ln w="25400" cap="flat" cmpd="sng">
                <a:solidFill>
                  <a:srgbClr val="62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9"/>
              <p:cNvSpPr txBox="1"/>
              <p:nvPr/>
            </p:nvSpPr>
            <p:spPr>
              <a:xfrm>
                <a:off x="2646409" y="1828069"/>
                <a:ext cx="242115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Training Interrupted </a:t>
                </a:r>
                <a:endParaRPr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9"/>
            <p:cNvGrpSpPr/>
            <p:nvPr/>
          </p:nvGrpSpPr>
          <p:grpSpPr>
            <a:xfrm>
              <a:off x="2194514" y="3820895"/>
              <a:ext cx="2688542" cy="1057411"/>
              <a:chOff x="2194514" y="965918"/>
              <a:chExt cx="2688542" cy="1057411"/>
            </a:xfrm>
          </p:grpSpPr>
          <p:sp>
            <p:nvSpPr>
              <p:cNvPr id="236" name="Google Shape;236;p9"/>
              <p:cNvSpPr/>
              <p:nvPr/>
            </p:nvSpPr>
            <p:spPr>
              <a:xfrm>
                <a:off x="2194514" y="965918"/>
                <a:ext cx="2688542" cy="1046009"/>
              </a:xfrm>
              <a:prstGeom prst="rect">
                <a:avLst/>
              </a:prstGeom>
              <a:solidFill>
                <a:srgbClr val="E5F1DE"/>
              </a:solidFill>
              <a:ln w="25400" cap="flat" cmpd="sng">
                <a:solidFill>
                  <a:srgbClr val="62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9"/>
              <p:cNvSpPr txBox="1"/>
              <p:nvPr/>
            </p:nvSpPr>
            <p:spPr>
              <a:xfrm>
                <a:off x="2305315" y="1007666"/>
                <a:ext cx="2421156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Inference Executes Overhead</a:t>
                </a:r>
                <a:endParaRPr dirty="0"/>
              </a:p>
            </p:txBody>
          </p:sp>
        </p:grpSp>
        <p:cxnSp>
          <p:nvCxnSpPr>
            <p:cNvPr id="238" name="Google Shape;238;p9"/>
            <p:cNvCxnSpPr>
              <a:cxnSpLocks/>
              <a:stCxn id="233" idx="2"/>
              <a:endCxn id="236" idx="0"/>
            </p:cNvCxnSpPr>
            <p:nvPr/>
          </p:nvCxnSpPr>
          <p:spPr>
            <a:xfrm flipH="1">
              <a:off x="3538785" y="2588293"/>
              <a:ext cx="1" cy="1232602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lg" len="lg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  <p:grpSp>
        <p:nvGrpSpPr>
          <p:cNvPr id="239" name="Google Shape;239;p9"/>
          <p:cNvGrpSpPr/>
          <p:nvPr/>
        </p:nvGrpSpPr>
        <p:grpSpPr>
          <a:xfrm>
            <a:off x="6664243" y="1698517"/>
            <a:ext cx="2254180" cy="3236079"/>
            <a:chOff x="2194515" y="1808037"/>
            <a:chExt cx="2747160" cy="4596602"/>
          </a:xfrm>
        </p:grpSpPr>
        <p:grpSp>
          <p:nvGrpSpPr>
            <p:cNvPr id="240" name="Google Shape;240;p9"/>
            <p:cNvGrpSpPr/>
            <p:nvPr/>
          </p:nvGrpSpPr>
          <p:grpSpPr>
            <a:xfrm>
              <a:off x="2247329" y="1808037"/>
              <a:ext cx="2694346" cy="1638709"/>
              <a:chOff x="2247329" y="1808037"/>
              <a:chExt cx="2694346" cy="1638709"/>
            </a:xfrm>
          </p:grpSpPr>
          <p:sp>
            <p:nvSpPr>
              <p:cNvPr id="241" name="Google Shape;241;p9"/>
              <p:cNvSpPr/>
              <p:nvPr/>
            </p:nvSpPr>
            <p:spPr>
              <a:xfrm>
                <a:off x="2247329" y="1808037"/>
                <a:ext cx="2694346" cy="1032159"/>
              </a:xfrm>
              <a:prstGeom prst="rect">
                <a:avLst/>
              </a:prstGeom>
              <a:solidFill>
                <a:srgbClr val="E5F1DE"/>
              </a:solidFill>
              <a:ln w="25400" cap="flat" cmpd="sng">
                <a:solidFill>
                  <a:srgbClr val="62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9"/>
              <p:cNvSpPr txBox="1"/>
              <p:nvPr/>
            </p:nvSpPr>
            <p:spPr>
              <a:xfrm>
                <a:off x="2311559" y="2000196"/>
                <a:ext cx="2421156" cy="144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Training Runs 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" name="Google Shape;243;p9"/>
            <p:cNvGrpSpPr/>
            <p:nvPr/>
          </p:nvGrpSpPr>
          <p:grpSpPr>
            <a:xfrm>
              <a:off x="2194515" y="4537487"/>
              <a:ext cx="2694346" cy="1867152"/>
              <a:chOff x="2194515" y="1682510"/>
              <a:chExt cx="2694346" cy="1867152"/>
            </a:xfrm>
          </p:grpSpPr>
          <p:sp>
            <p:nvSpPr>
              <p:cNvPr id="244" name="Google Shape;244;p9"/>
              <p:cNvSpPr/>
              <p:nvPr/>
            </p:nvSpPr>
            <p:spPr>
              <a:xfrm>
                <a:off x="2194515" y="1682510"/>
                <a:ext cx="2694346" cy="1446549"/>
              </a:xfrm>
              <a:prstGeom prst="rect">
                <a:avLst/>
              </a:prstGeom>
              <a:solidFill>
                <a:srgbClr val="E5F1DE"/>
              </a:solidFill>
              <a:ln w="25400" cap="flat" cmpd="sng">
                <a:solidFill>
                  <a:srgbClr val="62333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9"/>
              <p:cNvSpPr txBox="1"/>
              <p:nvPr/>
            </p:nvSpPr>
            <p:spPr>
              <a:xfrm>
                <a:off x="2272568" y="1795336"/>
                <a:ext cx="2421156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Inference Wait </a:t>
                </a:r>
                <a:endParaRPr/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High Latency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4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46" name="Google Shape;246;p9"/>
            <p:cNvCxnSpPr/>
            <p:nvPr/>
          </p:nvCxnSpPr>
          <p:spPr>
            <a:xfrm>
              <a:off x="3449836" y="2840196"/>
              <a:ext cx="0" cy="1697291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lg" len="lg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Comparison of Scheduling Strategies</a:t>
            </a:r>
            <a:endParaRPr/>
          </a:p>
        </p:txBody>
      </p:sp>
      <p:sp>
        <p:nvSpPr>
          <p:cNvPr id="252" name="Google Shape;252;p47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253" name="Google Shape;253;p47"/>
          <p:cNvGraphicFramePr/>
          <p:nvPr>
            <p:extLst>
              <p:ext uri="{D42A27DB-BD31-4B8C-83A1-F6EECF244321}">
                <p14:modId xmlns:p14="http://schemas.microsoft.com/office/powerpoint/2010/main" val="2939651736"/>
              </p:ext>
            </p:extLst>
          </p:nvPr>
        </p:nvGraphicFramePr>
        <p:xfrm>
          <a:off x="1453374" y="1305293"/>
          <a:ext cx="9262948" cy="5125600"/>
        </p:xfrm>
        <a:graphic>
          <a:graphicData uri="http://schemas.openxmlformats.org/drawingml/2006/table">
            <a:tbl>
              <a:tblPr firstRow="1" bandRow="1">
                <a:noFill/>
                <a:tableStyleId>{2F421EC7-573D-4E2D-8FBC-FDDCFB5D0FBF}</a:tableStyleId>
              </a:tblPr>
              <a:tblGrid>
                <a:gridCol w="231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5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5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5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</a:rPr>
                        <a:t>Method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</a:rPr>
                        <a:t>Inference Latency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</a:rPr>
                        <a:t>Training Latency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</a:rPr>
                        <a:t>Implementation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Baseline 1: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Non-Preemptive Priority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</a:rPr>
                        <a:t>✗ High (blocked by training)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lt2"/>
                          </a:solidFill>
                        </a:rPr>
                        <a:t>✓ </a:t>
                      </a:r>
                      <a:r>
                        <a:rPr lang="en-US" sz="2000" u="none" strike="noStrike" cap="none" dirty="0">
                          <a:solidFill>
                            <a:schemeClr val="lt2"/>
                          </a:solidFill>
                        </a:rPr>
                        <a:t>Low (no interruption)</a:t>
                      </a:r>
                      <a:endParaRPr sz="2000" u="none" strike="noStrike" cap="none" dirty="0">
                        <a:solidFill>
                          <a:schemeClr val="lt2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lt2"/>
                          </a:solidFill>
                        </a:rPr>
                        <a:t>✓ </a:t>
                      </a:r>
                      <a:r>
                        <a:rPr lang="en-US" sz="2000" u="none" strike="noStrike" cap="none">
                          <a:solidFill>
                            <a:schemeClr val="lt2"/>
                          </a:solidFill>
                        </a:rPr>
                        <a:t>Simple</a:t>
                      </a:r>
                      <a:endParaRPr sz="2000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4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Baseline 2: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1"/>
                          </a:solidFill>
                        </a:rPr>
                        <a:t>Preemptive Priority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lt2"/>
                          </a:solidFill>
                        </a:rPr>
                        <a:t>✓ </a:t>
                      </a:r>
                      <a:r>
                        <a:rPr lang="en-US" sz="2000" u="none" strike="noStrike" cap="none">
                          <a:solidFill>
                            <a:schemeClr val="lt2"/>
                          </a:solidFill>
                        </a:rPr>
                        <a:t>Low (always prioritized)</a:t>
                      </a:r>
                      <a:endParaRPr sz="2000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</a:rPr>
                        <a:t>✗ High (frequent pauses)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</a:rPr>
                        <a:t>✗ Complex (switch mechanism)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</a:rPr>
                        <a:t>Our method</a:t>
                      </a:r>
                      <a:endParaRPr sz="20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2"/>
                          </a:solidFill>
                        </a:rPr>
                        <a:t>✓ Low (offloaded to ES2)</a:t>
                      </a:r>
                      <a:endParaRPr sz="2000" b="1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chemeClr val="dk2"/>
                          </a:solidFill>
                        </a:rPr>
                        <a:t>✓ Stable (no interruption)</a:t>
                      </a:r>
                      <a:endParaRPr sz="2000" b="1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solidFill>
                            <a:schemeClr val="dk2"/>
                          </a:solidFill>
                        </a:rPr>
                        <a:t>✓  Simple</a:t>
                      </a:r>
                      <a:endParaRPr sz="2000" b="1" u="none" strike="noStrike" cap="none" dirty="0">
                        <a:solidFill>
                          <a:schemeClr val="dk2"/>
                        </a:solidFill>
                      </a:endParaRPr>
                    </a:p>
                  </a:txBody>
                  <a:tcPr marL="60250" marR="60250" marT="30125" marB="30125" anchor="ctr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Mean Delay under Priority Scheduling</a:t>
            </a:r>
            <a:endParaRPr/>
          </a:p>
        </p:txBody>
      </p:sp>
      <p:sp>
        <p:nvSpPr>
          <p:cNvPr id="283" name="Google Shape;283;p48"/>
          <p:cNvSpPr txBox="1">
            <a:spLocks noGrp="1"/>
          </p:cNvSpPr>
          <p:nvPr>
            <p:ph type="body" idx="1"/>
          </p:nvPr>
        </p:nvSpPr>
        <p:spPr>
          <a:xfrm>
            <a:off x="261903" y="654108"/>
            <a:ext cx="11668194" cy="6228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dirty="0"/>
              <a:t>Non-Preemptive Priority (Baseline 1)</a:t>
            </a: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/>
          </a:p>
          <a:p>
            <a: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dirty="0"/>
              <a:t>Preemptive Priority (Baseline 2)</a:t>
            </a:r>
            <a:endParaRPr dirty="0"/>
          </a:p>
          <a:p>
            <a:pPr marL="4572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/>
          </a:p>
        </p:txBody>
      </p:sp>
      <p:sp>
        <p:nvSpPr>
          <p:cNvPr id="284" name="Google Shape;284;p48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aphicFrame>
        <p:nvGraphicFramePr>
          <p:cNvPr id="285" name="Google Shape;285;p48"/>
          <p:cNvGraphicFramePr/>
          <p:nvPr>
            <p:extLst>
              <p:ext uri="{D42A27DB-BD31-4B8C-83A1-F6EECF244321}">
                <p14:modId xmlns:p14="http://schemas.microsoft.com/office/powerpoint/2010/main" val="2584430809"/>
              </p:ext>
            </p:extLst>
          </p:nvPr>
        </p:nvGraphicFramePr>
        <p:xfrm>
          <a:off x="1559699" y="1114620"/>
          <a:ext cx="9916650" cy="2141536"/>
        </p:xfrm>
        <a:graphic>
          <a:graphicData uri="http://schemas.openxmlformats.org/drawingml/2006/table">
            <a:tbl>
              <a:tblPr firstRow="1" bandRow="1">
                <a:noFill/>
                <a:tableStyleId>{2F421EC7-573D-4E2D-8FBC-FDDCFB5D0FBF}</a:tableStyleId>
              </a:tblPr>
              <a:tblGrid>
                <a:gridCol w="238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03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Class 1</a:t>
                      </a:r>
                      <a:r>
                        <a:rPr lang="en-US" sz="1400" u="none" strike="noStrike" cap="none"/>
                        <a:t> (Inference)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Class 2</a:t>
                      </a:r>
                      <a:r>
                        <a:rPr lang="en-US" sz="1400" u="none" strike="noStrike" cap="none"/>
                        <a:t> (Training)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Mean waiting time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12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Sojourn time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6" name="Google Shape;286;p48"/>
          <p:cNvGraphicFramePr/>
          <p:nvPr>
            <p:extLst>
              <p:ext uri="{D42A27DB-BD31-4B8C-83A1-F6EECF244321}">
                <p14:modId xmlns:p14="http://schemas.microsoft.com/office/powerpoint/2010/main" val="3632348688"/>
              </p:ext>
            </p:extLst>
          </p:nvPr>
        </p:nvGraphicFramePr>
        <p:xfrm>
          <a:off x="1559699" y="3858905"/>
          <a:ext cx="9945200" cy="2170666"/>
        </p:xfrm>
        <a:graphic>
          <a:graphicData uri="http://schemas.openxmlformats.org/drawingml/2006/table">
            <a:tbl>
              <a:tblPr firstRow="1" bandRow="1">
                <a:noFill/>
                <a:tableStyleId>{2F421EC7-573D-4E2D-8FBC-FDDCFB5D0FBF}</a:tableStyleId>
              </a:tblPr>
              <a:tblGrid>
                <a:gridCol w="239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31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Class 1</a:t>
                      </a:r>
                      <a:r>
                        <a:rPr lang="en-US" sz="1400" u="none" strike="noStrike" cap="none"/>
                        <a:t> (Inference)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Class 2</a:t>
                      </a:r>
                      <a:r>
                        <a:rPr lang="en-US" sz="1400" u="none" strike="noStrike" cap="none"/>
                        <a:t> (Training) 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947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Mean waiting time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38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Sojourn time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87" name="Google Shape;28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9083" y="4228827"/>
            <a:ext cx="1985954" cy="929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4554" y="1478453"/>
            <a:ext cx="2457211" cy="941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87962" y="1478453"/>
            <a:ext cx="3496264" cy="951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4706" y="2753192"/>
            <a:ext cx="2631129" cy="388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7220" y="2827740"/>
            <a:ext cx="2447056" cy="373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00668" y="4227158"/>
            <a:ext cx="3670852" cy="97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71265" y="5335040"/>
            <a:ext cx="2823787" cy="461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15625" y="5295971"/>
            <a:ext cx="3104675" cy="7017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DC62A5-0005-617D-2A06-571FD85E980A}"/>
              </a:ext>
            </a:extLst>
          </p:cNvPr>
          <p:cNvSpPr txBox="1"/>
          <p:nvPr/>
        </p:nvSpPr>
        <p:spPr>
          <a:xfrm>
            <a:off x="4000806" y="1432380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High latency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C609677-4183-B614-64E2-77825DEC05FB}"/>
              </a:ext>
            </a:extLst>
          </p:cNvPr>
          <p:cNvSpPr txBox="1"/>
          <p:nvPr/>
        </p:nvSpPr>
        <p:spPr>
          <a:xfrm>
            <a:off x="4000806" y="4228827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Low latency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883E70A-1895-36DF-4257-890440C937F3}"/>
              </a:ext>
            </a:extLst>
          </p:cNvPr>
          <p:cNvSpPr txBox="1"/>
          <p:nvPr/>
        </p:nvSpPr>
        <p:spPr>
          <a:xfrm>
            <a:off x="7700668" y="5179555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b="1" dirty="0">
                <a:solidFill>
                  <a:schemeClr val="accent1"/>
                </a:solidFill>
              </a:rPr>
              <a:t>High latency</a:t>
            </a:r>
            <a:endParaRPr kumimoji="1" lang="ja-JP" altLang="en-US" sz="1600" b="1">
              <a:solidFill>
                <a:schemeClr val="accent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FEF3BE-C1ED-8B85-EAB4-E7C8B3804A9D}"/>
              </a:ext>
            </a:extLst>
          </p:cNvPr>
          <p:cNvSpPr txBox="1"/>
          <p:nvPr/>
        </p:nvSpPr>
        <p:spPr>
          <a:xfrm>
            <a:off x="7694734" y="253843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Low latency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47A5E28-617F-8F7E-A05E-EF5A1D11E02E}"/>
              </a:ext>
            </a:extLst>
          </p:cNvPr>
          <p:cNvSpPr/>
          <p:nvPr/>
        </p:nvSpPr>
        <p:spPr>
          <a:xfrm>
            <a:off x="1671463" y="6152138"/>
            <a:ext cx="8682813" cy="526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We can use these formulas for our offloading model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661" y="1103602"/>
            <a:ext cx="2363281" cy="107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>
            <a:spLocks noGrp="1"/>
          </p:cNvSpPr>
          <p:nvPr>
            <p:ph type="title"/>
          </p:nvPr>
        </p:nvSpPr>
        <p:spPr>
          <a:xfrm>
            <a:off x="188843" y="272360"/>
            <a:ext cx="10744199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Approximate Delay under Our Offloading Strategy</a:t>
            </a:r>
            <a:endParaRPr/>
          </a:p>
        </p:txBody>
      </p:sp>
      <p:sp>
        <p:nvSpPr>
          <p:cNvPr id="338" name="Google Shape;338;p49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6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b="1" dirty="0"/>
              <a:t>ES1: Mixed Queue (Executes Class 2 and some Class 1)</a:t>
            </a:r>
            <a:endParaRPr dirty="0"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Approximate mean waiting time for Class 1 tasks at ES1:</a:t>
            </a:r>
            <a:endParaRPr dirty="0"/>
          </a:p>
          <a:p>
            <a:pPr marL="5588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Approximate mean waiting time for Class 2 tasks at ES1:</a:t>
            </a:r>
            <a:endParaRPr dirty="0"/>
          </a:p>
          <a:p>
            <a:pPr marL="5588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</a:pPr>
            <a:r>
              <a:rPr lang="en-US" dirty="0"/>
              <a:t>ES2: Inference Queue (Receives Class 1 offloads)</a:t>
            </a:r>
            <a:endParaRPr dirty="0"/>
          </a:p>
          <a:p>
            <a:pPr marL="914400" lvl="1" indent="-3556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US" dirty="0"/>
              <a:t>Approximate mean waiting time for Class 1 tasks at ES2:</a:t>
            </a:r>
            <a:endParaRPr dirty="0"/>
          </a:p>
          <a:p>
            <a:pPr marL="5588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b="1" dirty="0"/>
          </a:p>
          <a:p>
            <a:pPr marL="558800" lvl="1" indent="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endParaRPr b="1" dirty="0"/>
          </a:p>
        </p:txBody>
      </p:sp>
      <p:sp>
        <p:nvSpPr>
          <p:cNvPr id="339" name="Google Shape;339;p49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40" name="Google Shape;340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3684" y="2108147"/>
            <a:ext cx="4139475" cy="1029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32444" y="4589611"/>
            <a:ext cx="4796280" cy="97183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9"/>
          <p:cNvSpPr txBox="1"/>
          <p:nvPr/>
        </p:nvSpPr>
        <p:spPr>
          <a:xfrm>
            <a:off x="-294199" y="6389167"/>
            <a:ext cx="1229735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58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These formulas are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analytical approximations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derived from classical queueing theory, ignoring GPU switching overheads for simplicity.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　　　　　　For all task classes and edge servers, mean sojourn time is given by the sum of the mean waiting and mean service times.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9"/>
          <p:cNvSpPr/>
          <p:nvPr/>
        </p:nvSpPr>
        <p:spPr>
          <a:xfrm>
            <a:off x="8231302" y="4929486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9"/>
          <p:cNvSpPr/>
          <p:nvPr/>
        </p:nvSpPr>
        <p:spPr>
          <a:xfrm>
            <a:off x="8794590" y="4917372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9"/>
          <p:cNvSpPr/>
          <p:nvPr/>
        </p:nvSpPr>
        <p:spPr>
          <a:xfrm>
            <a:off x="10915591" y="4988080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9"/>
          <p:cNvSpPr/>
          <p:nvPr/>
        </p:nvSpPr>
        <p:spPr>
          <a:xfrm rot="-1060525">
            <a:off x="7628203" y="5052090"/>
            <a:ext cx="547439" cy="241864"/>
          </a:xfrm>
          <a:prstGeom prst="rightArrow">
            <a:avLst>
              <a:gd name="adj1" fmla="val 64418"/>
              <a:gd name="adj2" fmla="val 87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9"/>
          <p:cNvSpPr/>
          <p:nvPr/>
        </p:nvSpPr>
        <p:spPr>
          <a:xfrm rot="884951">
            <a:off x="7629007" y="4704694"/>
            <a:ext cx="439025" cy="250083"/>
          </a:xfrm>
          <a:prstGeom prst="rightArrow">
            <a:avLst>
              <a:gd name="adj1" fmla="val 16663"/>
              <a:gd name="adj2" fmla="val 39225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9"/>
          <p:cNvSpPr/>
          <p:nvPr/>
        </p:nvSpPr>
        <p:spPr>
          <a:xfrm rot="1039798">
            <a:off x="9804924" y="4767050"/>
            <a:ext cx="392550" cy="292006"/>
          </a:xfrm>
          <a:prstGeom prst="rightArrow">
            <a:avLst>
              <a:gd name="adj1" fmla="val 33707"/>
              <a:gd name="adj2" fmla="val 51247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10343115" y="4992548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9"/>
          <p:cNvSpPr txBox="1"/>
          <p:nvPr/>
        </p:nvSpPr>
        <p:spPr>
          <a:xfrm>
            <a:off x="8979370" y="4856642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9"/>
          <p:cNvSpPr txBox="1"/>
          <p:nvPr/>
        </p:nvSpPr>
        <p:spPr>
          <a:xfrm>
            <a:off x="10825944" y="5133110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1695" y="4280055"/>
            <a:ext cx="773308" cy="383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16210" y="5127047"/>
            <a:ext cx="765354" cy="458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96251" y="4577729"/>
            <a:ext cx="710152" cy="37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94191" y="5156041"/>
            <a:ext cx="569193" cy="4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63164" y="4245877"/>
            <a:ext cx="627574" cy="40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848808" y="4551301"/>
            <a:ext cx="627574" cy="406077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9"/>
          <p:cNvSpPr txBox="1"/>
          <p:nvPr/>
        </p:nvSpPr>
        <p:spPr>
          <a:xfrm>
            <a:off x="8338052" y="3727375"/>
            <a:ext cx="885371" cy="293991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l="-4222" t="-4160" r="-7037" b="-291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9"/>
          <p:cNvSpPr/>
          <p:nvPr/>
        </p:nvSpPr>
        <p:spPr>
          <a:xfrm rot="-5400000">
            <a:off x="8608352" y="3598292"/>
            <a:ext cx="234820" cy="114281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 txBox="1"/>
          <p:nvPr/>
        </p:nvSpPr>
        <p:spPr>
          <a:xfrm>
            <a:off x="8338051" y="5783231"/>
            <a:ext cx="885371" cy="293991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l="-4222" r="-7037" b="-291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/>
          <p:nvPr/>
        </p:nvSpPr>
        <p:spPr>
          <a:xfrm rot="5400000">
            <a:off x="8643026" y="5080240"/>
            <a:ext cx="234820" cy="114281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 txBox="1"/>
          <p:nvPr/>
        </p:nvSpPr>
        <p:spPr>
          <a:xfrm>
            <a:off x="10423346" y="4047552"/>
            <a:ext cx="885371" cy="29399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l="-4222" r="-7037" b="-291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9"/>
          <p:cNvSpPr/>
          <p:nvPr/>
        </p:nvSpPr>
        <p:spPr>
          <a:xfrm rot="-5400000">
            <a:off x="10693646" y="3918469"/>
            <a:ext cx="234820" cy="114281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F4AF35E-8F86-490A-8090-77B94BE9427B}"/>
              </a:ext>
            </a:extLst>
          </p:cNvPr>
          <p:cNvSpPr txBox="1"/>
          <p:nvPr/>
        </p:nvSpPr>
        <p:spPr>
          <a:xfrm>
            <a:off x="8034788" y="836346"/>
            <a:ext cx="210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Preemptive mode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C79A6E-C661-5F6D-B970-751367F88E20}"/>
              </a:ext>
            </a:extLst>
          </p:cNvPr>
          <p:cNvSpPr txBox="1"/>
          <p:nvPr/>
        </p:nvSpPr>
        <p:spPr>
          <a:xfrm>
            <a:off x="1379937" y="1928404"/>
            <a:ext cx="7218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Inference task is offloaded without interruption -&gt; Low latency!! 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E3F6FB-23A3-7295-E12C-2FCFA15098B2}"/>
              </a:ext>
            </a:extLst>
          </p:cNvPr>
          <p:cNvSpPr txBox="1"/>
          <p:nvPr/>
        </p:nvSpPr>
        <p:spPr>
          <a:xfrm>
            <a:off x="1379937" y="2786094"/>
            <a:ext cx="4429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Traffic load for training tasks becomes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6A86D11-1599-571C-29DB-A0F43953438A}"/>
                  </a:ext>
                </a:extLst>
              </p:cNvPr>
              <p:cNvSpPr txBox="1"/>
              <p:nvPr/>
            </p:nvSpPr>
            <p:spPr>
              <a:xfrm>
                <a:off x="5721124" y="2832260"/>
                <a:ext cx="4864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sz="1800" dirty="0">
                    <a:solidFill>
                      <a:schemeClr val="accent1"/>
                    </a:solidFill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kumimoji="1" lang="en-US" altLang="ja-JP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ja-JP" altLang="en-US" sz="18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6A86D11-1599-571C-29DB-A0F439534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124" y="2832260"/>
                <a:ext cx="486423" cy="276999"/>
              </a:xfrm>
              <a:prstGeom prst="rect">
                <a:avLst/>
              </a:prstGeom>
              <a:blipFill>
                <a:blip r:embed="rId14"/>
                <a:stretch>
                  <a:fillRect l="-28205" t="-27273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D9D446D-6DC0-D275-4C7F-F108A961D5B7}"/>
                  </a:ext>
                </a:extLst>
              </p:cNvPr>
              <p:cNvSpPr txBox="1"/>
              <p:nvPr/>
            </p:nvSpPr>
            <p:spPr>
              <a:xfrm>
                <a:off x="7548365" y="5389556"/>
                <a:ext cx="48642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sz="1800" dirty="0">
                    <a:solidFill>
                      <a:schemeClr val="accent1"/>
                    </a:solidFill>
                  </a:rPr>
                  <a:t>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kumimoji="1" lang="en-US" altLang="ja-JP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ja-JP" altLang="en-US" sz="18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8D9D446D-6DC0-D275-4C7F-F108A961D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365" y="5389556"/>
                <a:ext cx="486423" cy="276999"/>
              </a:xfrm>
              <a:prstGeom prst="rect">
                <a:avLst/>
              </a:prstGeom>
              <a:blipFill>
                <a:blip r:embed="rId15"/>
                <a:stretch>
                  <a:fillRect l="-28205" t="-26087" b="-478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416709-BAEB-87F8-4B19-68079146EEDF}"/>
              </a:ext>
            </a:extLst>
          </p:cNvPr>
          <p:cNvSpPr txBox="1"/>
          <p:nvPr/>
        </p:nvSpPr>
        <p:spPr>
          <a:xfrm>
            <a:off x="967936" y="4015619"/>
            <a:ext cx="5840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Probability of training task is not processing at ES1</a:t>
            </a:r>
          </a:p>
          <a:p>
            <a:r>
              <a:rPr kumimoji="1" lang="en-US" altLang="ja-JP" sz="1800" b="1" dirty="0">
                <a:solidFill>
                  <a:schemeClr val="accent1"/>
                </a:solidFill>
              </a:rPr>
              <a:t>=can process inference task at ES1: 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5F4DF79-3EA1-9E78-81D2-EA68550C8C61}"/>
                  </a:ext>
                </a:extLst>
              </p:cNvPr>
              <p:cNvSpPr txBox="1"/>
              <p:nvPr/>
            </p:nvSpPr>
            <p:spPr>
              <a:xfrm>
                <a:off x="4989258" y="4318649"/>
                <a:ext cx="8352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en-US" altLang="ja-JP" sz="1800" dirty="0">
                    <a:solidFill>
                      <a:schemeClr val="accent1"/>
                    </a:solidFill>
                  </a:rPr>
                  <a:t>1 - 2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18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kumimoji="1" lang="en-US" altLang="ja-JP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ja-JP" altLang="en-US" sz="18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75F4DF79-3EA1-9E78-81D2-EA68550C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258" y="4318649"/>
                <a:ext cx="835280" cy="276999"/>
              </a:xfrm>
              <a:prstGeom prst="rect">
                <a:avLst/>
              </a:prstGeom>
              <a:blipFill>
                <a:blip r:embed="rId16"/>
                <a:stretch>
                  <a:fillRect l="-16418" t="-21739" b="-521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右中かっこ 20">
            <a:extLst>
              <a:ext uri="{FF2B5EF4-FFF2-40B4-BE49-F238E27FC236}">
                <a16:creationId xmlns:a16="http://schemas.microsoft.com/office/drawing/2014/main" id="{174DE4E8-3263-2C5A-F0C2-2312133BF68D}"/>
              </a:ext>
            </a:extLst>
          </p:cNvPr>
          <p:cNvSpPr/>
          <p:nvPr/>
        </p:nvSpPr>
        <p:spPr>
          <a:xfrm rot="5400000">
            <a:off x="5868668" y="4755056"/>
            <a:ext cx="211185" cy="1787501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2B8BFFD-68A5-AC0B-DF99-C526DBE43CBE}"/>
              </a:ext>
            </a:extLst>
          </p:cNvPr>
          <p:cNvSpPr txBox="1"/>
          <p:nvPr/>
        </p:nvSpPr>
        <p:spPr>
          <a:xfrm>
            <a:off x="3045902" y="575405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Tasks at ES2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  <p:sp>
        <p:nvSpPr>
          <p:cNvPr id="23" name="右中かっこ 22">
            <a:extLst>
              <a:ext uri="{FF2B5EF4-FFF2-40B4-BE49-F238E27FC236}">
                <a16:creationId xmlns:a16="http://schemas.microsoft.com/office/drawing/2014/main" id="{5D16466A-7303-AD76-8816-E697D971A625}"/>
              </a:ext>
            </a:extLst>
          </p:cNvPr>
          <p:cNvSpPr/>
          <p:nvPr/>
        </p:nvSpPr>
        <p:spPr>
          <a:xfrm rot="5400000">
            <a:off x="3913059" y="4713554"/>
            <a:ext cx="211185" cy="1787501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5986D4D-8809-A143-7F40-ECD341D53A37}"/>
              </a:ext>
            </a:extLst>
          </p:cNvPr>
          <p:cNvSpPr txBox="1"/>
          <p:nvPr/>
        </p:nvSpPr>
        <p:spPr>
          <a:xfrm>
            <a:off x="5013690" y="5754055"/>
            <a:ext cx="2884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800" b="1" dirty="0">
                <a:solidFill>
                  <a:schemeClr val="accent1"/>
                </a:solidFill>
              </a:rPr>
              <a:t>offloading tasks </a:t>
            </a:r>
          </a:p>
          <a:p>
            <a:r>
              <a:rPr kumimoji="1" lang="en-US" altLang="ja-JP" sz="1800" b="1" dirty="0">
                <a:solidFill>
                  <a:schemeClr val="accent1"/>
                </a:solidFill>
              </a:rPr>
              <a:t>   from ES1+tasks at ES2</a:t>
            </a:r>
            <a:endParaRPr kumimoji="1" lang="ja-JP" altLang="en-US" sz="1800" b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Experiment Setup</a:t>
            </a:r>
            <a:endParaRPr/>
          </a:p>
        </p:txBody>
      </p:sp>
      <p:sp>
        <p:nvSpPr>
          <p:cNvPr id="369" name="Google Shape;369;p20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6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en-US" b="1" dirty="0"/>
              <a:t>Model</a:t>
            </a:r>
            <a:r>
              <a:rPr lang="en-US" dirty="0"/>
              <a:t>: CLIP + </a:t>
            </a:r>
            <a:r>
              <a:rPr lang="en-US" dirty="0" err="1"/>
              <a:t>PromptFL</a:t>
            </a:r>
            <a:r>
              <a:rPr lang="en-US" dirty="0"/>
              <a:t> [1]</a:t>
            </a:r>
            <a:endParaRPr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en-US" dirty="0"/>
              <a:t>You can show how </a:t>
            </a:r>
            <a:r>
              <a:rPr lang="en-US" dirty="0" err="1"/>
              <a:t>λ</a:t>
            </a:r>
            <a:r>
              <a:rPr lang="en-US" dirty="0"/>
              <a:t>₁ and </a:t>
            </a:r>
            <a:r>
              <a:rPr lang="en-US" dirty="0" err="1"/>
              <a:t>λ</a:t>
            </a:r>
            <a:r>
              <a:rPr lang="en-US" dirty="0"/>
              <a:t>₂ are derived from </a:t>
            </a:r>
            <a:r>
              <a:rPr lang="en-US" dirty="0" err="1"/>
              <a:t>ρ</a:t>
            </a:r>
            <a:r>
              <a:rPr lang="en-US" dirty="0"/>
              <a:t> and r:</a:t>
            </a:r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endParaRPr lang="en-US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endParaRPr lang="en-US" dirty="0"/>
          </a:p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29729"/>
              <a:buChar char="•"/>
            </a:pPr>
            <a:r>
              <a:rPr lang="en-US" dirty="0"/>
              <a:t>System load: </a:t>
            </a:r>
            <a:r>
              <a:rPr lang="en-US" dirty="0" err="1"/>
              <a:t>ρ</a:t>
            </a:r>
            <a:r>
              <a:rPr lang="en-US" dirty="0"/>
              <a:t> = 0.3, proportion r = 0.9</a:t>
            </a:r>
            <a:endParaRPr dirty="0"/>
          </a:p>
          <a:p>
            <a:pPr marL="800100" lvl="1" indent="-34289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7"/>
              <a:buChar char="•"/>
            </a:pPr>
            <a:r>
              <a:rPr lang="en-US" dirty="0"/>
              <a:t>Inference: 3 </a:t>
            </a:r>
            <a:r>
              <a:rPr lang="en-US" dirty="0" err="1"/>
              <a:t>ms</a:t>
            </a:r>
            <a:r>
              <a:rPr lang="en-US" dirty="0"/>
              <a:t> avg., Training: 1 </a:t>
            </a:r>
            <a:r>
              <a:rPr lang="en-US" dirty="0" err="1"/>
              <a:t>hr</a:t>
            </a:r>
            <a:r>
              <a:rPr lang="en-US" dirty="0"/>
              <a:t> avg.</a:t>
            </a:r>
          </a:p>
          <a:p>
            <a: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 altLang="ja-JP" b="1" dirty="0"/>
              <a:t>System Motivation</a:t>
            </a:r>
            <a:endParaRPr lang="en-US" altLang="ja-JP" dirty="0"/>
          </a:p>
          <a:p>
            <a:pPr marL="914400" lvl="1" indent="-35559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7"/>
              <a:buChar char="•"/>
            </a:pPr>
            <a:r>
              <a:rPr lang="en-US" altLang="ja-JP" i="1" dirty="0"/>
              <a:t>The high imbalance in task frequency motivates task offloading.</a:t>
            </a:r>
            <a:endParaRPr lang="en-US" altLang="ja-JP" dirty="0"/>
          </a:p>
          <a:p>
            <a:pPr marL="457200" marR="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Char char="●"/>
            </a:pPr>
            <a:r>
              <a:rPr lang="en-US" altLang="ja-JP" b="1" dirty="0"/>
              <a:t>Baseline Comparison Note</a:t>
            </a:r>
            <a:endParaRPr lang="en-US" altLang="ja-JP" dirty="0"/>
          </a:p>
          <a:p>
            <a:pPr marL="914400" lvl="1" indent="-355598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ct val="108107"/>
              <a:buChar char="•"/>
            </a:pPr>
            <a:r>
              <a:rPr lang="en-US" altLang="ja-JP" dirty="0"/>
              <a:t>Mention explicitly that the same parameters are used across all scheduling methods (for fair comparison).</a:t>
            </a:r>
          </a:p>
          <a:p>
            <a:pPr marL="45720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dirty="0"/>
          </a:p>
          <a:p>
            <a:pPr marL="45720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b="1" dirty="0"/>
          </a:p>
          <a:p>
            <a:pPr marL="45720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b="1" dirty="0"/>
          </a:p>
          <a:p>
            <a:pPr marL="457200" lvl="0" indent="-381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endParaRPr b="1" dirty="0"/>
          </a:p>
          <a:p>
            <a:pPr marL="342900" lvl="0" indent="-190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Noto Sans Symbols"/>
              <a:buNone/>
            </a:pPr>
            <a:endParaRPr dirty="0"/>
          </a:p>
        </p:txBody>
      </p:sp>
      <p:sp>
        <p:nvSpPr>
          <p:cNvPr id="370" name="Google Shape;370;p20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499938" y="6289723"/>
            <a:ext cx="110460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[1] C. Qiu, X. Li, C. K. </a:t>
            </a:r>
            <a:r>
              <a:rPr lang="en-US" sz="1400" b="0" i="1" u="none" strike="noStrike" cap="none" dirty="0" err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Mummadi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M. R. Ganesh, Z. Li, L. Peng, and W.-Y. Lin, “Federated Text-driven Prompt Generation for Vision-Language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Models,” in Proceedings of the International Conference on Learning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400" b="0" i="1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Representations, 2024.</a:t>
            </a: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2" name="Google Shape;37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70608" y="1772424"/>
            <a:ext cx="4479332" cy="142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1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Results &amp; Discussion</a:t>
            </a:r>
            <a:endParaRPr/>
          </a:p>
        </p:txBody>
      </p:sp>
      <p:sp>
        <p:nvSpPr>
          <p:cNvPr id="379" name="Google Shape;379;p21"/>
          <p:cNvSpPr txBox="1">
            <a:spLocks noGrp="1"/>
          </p:cNvSpPr>
          <p:nvPr>
            <p:ph type="body" idx="1"/>
          </p:nvPr>
        </p:nvSpPr>
        <p:spPr>
          <a:xfrm>
            <a:off x="188843" y="947057"/>
            <a:ext cx="7267107" cy="3045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indent="-355598">
              <a:spcBef>
                <a:spcPts val="600"/>
              </a:spcBef>
              <a:buSzPct val="142857"/>
              <a:buChar char="•"/>
            </a:pPr>
            <a:r>
              <a:rPr lang="en-US" dirty="0"/>
              <a:t>In the non-preemptive priority control method, the mean waiting time for inference tasks becomes extremely long.</a:t>
            </a:r>
          </a:p>
          <a:p>
            <a:pPr indent="-355598">
              <a:spcBef>
                <a:spcPts val="600"/>
              </a:spcBef>
              <a:buSzPct val="142857"/>
              <a:buChar char="•"/>
            </a:pPr>
            <a:r>
              <a:rPr lang="en-US" dirty="0"/>
              <a:t>In the preemptive priority control method, the mean waiting time for inference tasks is reduced compared to the non-pre-emptive method. However, </a:t>
            </a:r>
            <a:r>
              <a:rPr lang="en-US" dirty="0">
                <a:solidFill>
                  <a:srgbClr val="7030A0"/>
                </a:solidFill>
              </a:rPr>
              <a:t>the mean sojourn time for training tasks increases</a:t>
            </a:r>
            <a:r>
              <a:rPr lang="en-US" dirty="0"/>
              <a:t> as they are frequently interrupted. In practice, due to task-switching overhead, the delay for both task classes would likely be greater.</a:t>
            </a:r>
          </a:p>
          <a:p>
            <a:pPr indent="-355598">
              <a:spcBef>
                <a:spcPts val="600"/>
              </a:spcBef>
              <a:buSzPct val="142857"/>
              <a:buChar char="•"/>
            </a:pPr>
            <a:r>
              <a:rPr lang="en-US" dirty="0"/>
              <a:t>The proposed method, which offloads tasks between edge servers, effectively combines the advantages of both priority control approaches. Additionally, our method eliminates </a:t>
            </a:r>
            <a:r>
              <a:rPr lang="en-US" dirty="0" err="1"/>
              <a:t>taskswitching</a:t>
            </a:r>
            <a:r>
              <a:rPr lang="en-US" dirty="0"/>
              <a:t> overhead. Although some overhead is required for task offloading, it is expected to be relatively small.</a:t>
            </a:r>
            <a:endParaRPr dirty="0"/>
          </a:p>
        </p:txBody>
      </p:sp>
      <p:sp>
        <p:nvSpPr>
          <p:cNvPr id="380" name="Google Shape;380;p21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aphicFrame>
        <p:nvGraphicFramePr>
          <p:cNvPr id="381" name="Google Shape;381;p21"/>
          <p:cNvGraphicFramePr/>
          <p:nvPr>
            <p:extLst>
              <p:ext uri="{D42A27DB-BD31-4B8C-83A1-F6EECF244321}">
                <p14:modId xmlns:p14="http://schemas.microsoft.com/office/powerpoint/2010/main" val="2475734566"/>
              </p:ext>
            </p:extLst>
          </p:nvPr>
        </p:nvGraphicFramePr>
        <p:xfrm>
          <a:off x="505494" y="3810080"/>
          <a:ext cx="10591400" cy="2225100"/>
        </p:xfrm>
        <a:graphic>
          <a:graphicData uri="http://schemas.openxmlformats.org/drawingml/2006/table">
            <a:tbl>
              <a:tblPr firstRow="1" bandRow="1">
                <a:noFill/>
                <a:tableStyleId>{854AE706-3FB9-49F4-9637-426626816EC9}</a:tableStyleId>
              </a:tblPr>
              <a:tblGrid>
                <a:gridCol w="241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8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 row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Method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Mean waiting time [s]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Mean sojourn time [s]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ja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Inference (class 1)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Training (class 2)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Inference (class 1)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Training (class 2)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Non-preemptive (BaseLine 1)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7030A0"/>
                          </a:solidFill>
                        </a:rPr>
                        <a:t>92.4664</a:t>
                      </a:r>
                      <a:endParaRPr sz="14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132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7030A0"/>
                          </a:solidFill>
                        </a:rPr>
                        <a:t>92.4694</a:t>
                      </a:r>
                      <a:endParaRPr sz="1400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3732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Preemptive (BaseLine 2)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0.0006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132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0.0036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rgbClr val="7030A0"/>
                          </a:solidFill>
                        </a:rPr>
                        <a:t>5064</a:t>
                      </a:r>
                      <a:endParaRPr sz="1400" b="1" u="none" strike="noStrike" cap="none" dirty="0">
                        <a:solidFill>
                          <a:srgbClr val="7030A0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Ours (Edge server 1)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0.0006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5"/>
                          </a:solidFill>
                        </a:rPr>
                        <a:t>276</a:t>
                      </a:r>
                      <a:endParaRPr sz="1400" b="1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1"/>
                          </a:solidFill>
                        </a:rPr>
                        <a:t>0.0036</a:t>
                      </a:r>
                      <a:endParaRPr sz="1400" b="1" u="none" strike="noStrike" cap="none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5"/>
                          </a:solidFill>
                        </a:rPr>
                        <a:t>3876</a:t>
                      </a:r>
                      <a:endParaRPr sz="1400" b="1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Ours (Edge server 2)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accent5"/>
                          </a:solidFill>
                        </a:rPr>
                        <a:t>0.0007</a:t>
                      </a:r>
                      <a:endParaRPr sz="1400" b="1" u="none" strike="noStrike" cap="none">
                        <a:solidFill>
                          <a:schemeClr val="accent5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0.0037</a:t>
                      </a:r>
                      <a:endParaRPr sz="1400" b="1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-</a:t>
                      </a:r>
                      <a:endParaRPr sz="14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82" name="Google Shape;382;p21"/>
          <p:cNvSpPr/>
          <p:nvPr/>
        </p:nvSpPr>
        <p:spPr>
          <a:xfrm>
            <a:off x="8412629" y="1915942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8975917" y="1903828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11096918" y="1974536"/>
            <a:ext cx="203567" cy="203567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/>
          <p:nvPr/>
        </p:nvSpPr>
        <p:spPr>
          <a:xfrm rot="-1060525">
            <a:off x="7809530" y="2038546"/>
            <a:ext cx="547439" cy="241864"/>
          </a:xfrm>
          <a:prstGeom prst="rightArrow">
            <a:avLst>
              <a:gd name="adj1" fmla="val 64418"/>
              <a:gd name="adj2" fmla="val 8741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/>
          <p:nvPr/>
        </p:nvSpPr>
        <p:spPr>
          <a:xfrm rot="884951">
            <a:off x="7810334" y="1691150"/>
            <a:ext cx="439025" cy="250083"/>
          </a:xfrm>
          <a:prstGeom prst="rightArrow">
            <a:avLst>
              <a:gd name="adj1" fmla="val 16663"/>
              <a:gd name="adj2" fmla="val 39225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/>
          <p:nvPr/>
        </p:nvSpPr>
        <p:spPr>
          <a:xfrm rot="1039798">
            <a:off x="9986251" y="1753506"/>
            <a:ext cx="392550" cy="292006"/>
          </a:xfrm>
          <a:prstGeom prst="rightArrow">
            <a:avLst>
              <a:gd name="adj1" fmla="val 33707"/>
              <a:gd name="adj2" fmla="val 51247"/>
            </a:avLst>
          </a:prstGeom>
          <a:solidFill>
            <a:srgbClr val="4D6BA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10524442" y="1979004"/>
            <a:ext cx="563288" cy="179340"/>
          </a:xfrm>
          <a:prstGeom prst="rightBracket">
            <a:avLst>
              <a:gd name="adj" fmla="val 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9160697" y="1843098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11007271" y="2119566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3022" y="1266511"/>
            <a:ext cx="773308" cy="383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97537" y="2113503"/>
            <a:ext cx="765354" cy="458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7578" y="1564185"/>
            <a:ext cx="710152" cy="371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75518" y="2142497"/>
            <a:ext cx="569193" cy="46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4491" y="1232333"/>
            <a:ext cx="627574" cy="406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30135" y="1537757"/>
            <a:ext cx="627574" cy="406077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1"/>
          <p:cNvSpPr txBox="1"/>
          <p:nvPr/>
        </p:nvSpPr>
        <p:spPr>
          <a:xfrm>
            <a:off x="8519379" y="713831"/>
            <a:ext cx="885371" cy="293991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l="-4280" t="-4161" r="-7138" b="-2499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/>
          <p:nvPr/>
        </p:nvSpPr>
        <p:spPr>
          <a:xfrm rot="-5400000">
            <a:off x="8789679" y="584748"/>
            <a:ext cx="234820" cy="114281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8519378" y="2769687"/>
            <a:ext cx="885371" cy="293991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l="-4280" r="-7138" b="-2399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1"/>
          <p:cNvSpPr/>
          <p:nvPr/>
        </p:nvSpPr>
        <p:spPr>
          <a:xfrm rot="5400000">
            <a:off x="8824353" y="2066696"/>
            <a:ext cx="234820" cy="114281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10604673" y="1034008"/>
            <a:ext cx="885371" cy="293991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l="-4282" r="-8563" b="-291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1"/>
          <p:cNvSpPr/>
          <p:nvPr/>
        </p:nvSpPr>
        <p:spPr>
          <a:xfrm rot="-5400000">
            <a:off x="10874973" y="904925"/>
            <a:ext cx="234820" cy="1142813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2"/>
          <p:cNvSpPr txBox="1">
            <a:spLocks noGrp="1"/>
          </p:cNvSpPr>
          <p:nvPr>
            <p:ph type="title"/>
          </p:nvPr>
        </p:nvSpPr>
        <p:spPr>
          <a:xfrm>
            <a:off x="188844" y="272360"/>
            <a:ext cx="8941904" cy="509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/>
              <a:t>Conclusion &amp; Future Work</a:t>
            </a:r>
            <a:endParaRPr/>
          </a:p>
        </p:txBody>
      </p:sp>
      <p:sp>
        <p:nvSpPr>
          <p:cNvPr id="412" name="Google Shape;412;p22"/>
          <p:cNvSpPr txBox="1">
            <a:spLocks noGrp="1"/>
          </p:cNvSpPr>
          <p:nvPr>
            <p:ph type="body" idx="1"/>
          </p:nvPr>
        </p:nvSpPr>
        <p:spPr>
          <a:xfrm>
            <a:off x="188844" y="947058"/>
            <a:ext cx="11668194" cy="56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 dirty="0"/>
              <a:t>Conclusion</a:t>
            </a:r>
            <a:r>
              <a:rPr lang="en-US" dirty="0"/>
              <a:t>: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altLang="ja-JP" dirty="0"/>
              <a:t>Proposed offloading improves inference and training efficiency</a:t>
            </a:r>
            <a:endParaRPr lang="en-US" dirty="0"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Queueing theory enables lightweight and explainable evaluation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Achieves near-optimal delay </a:t>
            </a:r>
            <a:r>
              <a:rPr lang="en-US" b="1" dirty="0"/>
              <a:t>without context switching</a:t>
            </a:r>
          </a:p>
          <a:p>
            <a:pPr marL="45720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b="1" dirty="0"/>
              <a:t>Future Work</a:t>
            </a:r>
            <a:r>
              <a:rPr lang="en-US" dirty="0"/>
              <a:t>: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Scaling to multiple edge servers.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Dynamic load allocation using game theory or clustering.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Modeling communication and GPU resume overhead.</a:t>
            </a:r>
            <a:endParaRPr dirty="0"/>
          </a:p>
          <a:p>
            <a:pPr marL="80010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Extending to bursty and multi-class traffic.</a:t>
            </a:r>
            <a:endParaRPr dirty="0"/>
          </a:p>
        </p:txBody>
      </p:sp>
      <p:sp>
        <p:nvSpPr>
          <p:cNvPr id="413" name="Google Shape;413;p22"/>
          <p:cNvSpPr txBox="1">
            <a:spLocks noGrp="1"/>
          </p:cNvSpPr>
          <p:nvPr>
            <p:ph type="sldNum" idx="12"/>
          </p:nvPr>
        </p:nvSpPr>
        <p:spPr>
          <a:xfrm>
            <a:off x="11476382" y="6599583"/>
            <a:ext cx="646044" cy="245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Science Tokyo color">
      <a:dk1>
        <a:srgbClr val="000000"/>
      </a:dk1>
      <a:lt1>
        <a:srgbClr val="FFFFFF"/>
      </a:lt1>
      <a:dk2>
        <a:srgbClr val="1C3077"/>
      </a:dk2>
      <a:lt2>
        <a:srgbClr val="7F96C2"/>
      </a:lt2>
      <a:accent1>
        <a:srgbClr val="E97979"/>
      </a:accent1>
      <a:accent2>
        <a:srgbClr val="F8A088"/>
      </a:accent2>
      <a:accent3>
        <a:srgbClr val="EDC669"/>
      </a:accent3>
      <a:accent4>
        <a:srgbClr val="81BD5F"/>
      </a:accent4>
      <a:accent5>
        <a:srgbClr val="59A36C"/>
      </a:accent5>
      <a:accent6>
        <a:srgbClr val="999999"/>
      </a:accent6>
      <a:hlink>
        <a:srgbClr val="E8EAF1"/>
      </a:hlink>
      <a:folHlink>
        <a:srgbClr val="F2F3F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1986</Words>
  <Application>Microsoft Macintosh PowerPoint</Application>
  <PresentationFormat>ワイド画面</PresentationFormat>
  <Paragraphs>372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7" baseType="lpstr">
      <vt:lpstr>Calibri</vt:lpstr>
      <vt:lpstr>Cambria Math</vt:lpstr>
      <vt:lpstr>Helvetica Neue</vt:lpstr>
      <vt:lpstr>Noto Sans Symbols</vt:lpstr>
      <vt:lpstr>Arial</vt:lpstr>
      <vt:lpstr>Times New Roman</vt:lpstr>
      <vt:lpstr>Noto Sans JP</vt:lpstr>
      <vt:lpstr>Office テーマ</vt:lpstr>
      <vt:lpstr>On the Effectiveness of Task Off-loading in Edge based Federated Learning Environment </vt:lpstr>
      <vt:lpstr>Background &amp; Challenges</vt:lpstr>
      <vt:lpstr>What is FPL?</vt:lpstr>
      <vt:lpstr>Federated Prompt Learning (FPL)  　　　　　　　　and the Remaining Challenges</vt:lpstr>
      <vt:lpstr>Comparison with Existing Approaches</vt:lpstr>
      <vt:lpstr>Objective: Task Conflict on the Edge</vt:lpstr>
      <vt:lpstr>Overview of our assumed system</vt:lpstr>
      <vt:lpstr>Our Offloading Strategy</vt:lpstr>
      <vt:lpstr>Illustration of Task Offloading Behavior</vt:lpstr>
      <vt:lpstr>Modeling Task Scheduling via Queueing Theory</vt:lpstr>
      <vt:lpstr>M/G/1 Queue with Priority Scheduling</vt:lpstr>
      <vt:lpstr>Modeling Our Offloading Strategy</vt:lpstr>
      <vt:lpstr>Baseline Methods: Priority Scheduling</vt:lpstr>
      <vt:lpstr>Comparison of Scheduling Strategies</vt:lpstr>
      <vt:lpstr>Mean Delay under Priority Scheduling</vt:lpstr>
      <vt:lpstr>Approximate Delay under Our Offloading Strategy</vt:lpstr>
      <vt:lpstr>Experiment Setup</vt:lpstr>
      <vt:lpstr>Results &amp; Discussion</vt:lpstr>
      <vt:lpstr>Conclusion &amp;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清水 優 デザイン</dc:creator>
  <cp:lastModifiedBy>宮田 純子 / Sumiko Miyata</cp:lastModifiedBy>
  <cp:revision>14</cp:revision>
  <dcterms:created xsi:type="dcterms:W3CDTF">2024-05-02T13:19:49Z</dcterms:created>
  <dcterms:modified xsi:type="dcterms:W3CDTF">2025-07-19T08:54:32Z</dcterms:modified>
</cp:coreProperties>
</file>